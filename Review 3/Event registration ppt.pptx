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6" r:id="rId11"/>
    <p:sldId id="269" r:id="rId12"/>
    <p:sldId id="267" r:id="rId13"/>
    <p:sldId id="268" r:id="rId14"/>
    <p:sldId id="270" r:id="rId15"/>
    <p:sldId id="265" r:id="rId16"/>
  </p:sldIdLst>
  <p:sldSz cx="18288000" cy="10287000"/>
  <p:notesSz cx="6858000" cy="9144000"/>
  <p:embeddedFontLst>
    <p:embeddedFont>
      <p:font typeface="Calibri" panose="020F0502020204030204" pitchFamily="34" charset="0"/>
      <p:regular r:id="rId17"/>
      <p:bold r:id="rId18"/>
      <p:italic r:id="rId19"/>
      <p:boldItalic r:id="rId20"/>
    </p:embeddedFont>
    <p:embeddedFont>
      <p:font typeface="Gotham Bold Italics" panose="020B0604020202020204" charset="0"/>
      <p:regular r:id="rId21"/>
    </p:embeddedFont>
    <p:embeddedFont>
      <p:font typeface="Cambria" panose="02040503050406030204" pitchFamily="18" charset="0"/>
      <p:regular r:id="rId22"/>
      <p:bold r:id="rId23"/>
      <p:italic r:id="rId24"/>
      <p:boldItalic r:id="rId25"/>
    </p:embeddedFont>
    <p:embeddedFont>
      <p:font typeface="Bookman Old Style" panose="02050604050505020204" pitchFamily="18" charset="0"/>
      <p:regular r:id="rId26"/>
      <p:bold r:id="rId27"/>
      <p:italic r:id="rId28"/>
      <p:boldItalic r:id="rId29"/>
    </p:embeddedFont>
    <p:embeddedFont>
      <p:font typeface="Gotham" panose="020B0604020202020204" charset="0"/>
      <p:regular r:id="rId3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3" d="100"/>
          <a:sy n="53" d="100"/>
        </p:scale>
        <p:origin x="29" y="12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font" Target="fonts/font10.fntdata"/><Relationship Id="rId3" Type="http://schemas.openxmlformats.org/officeDocument/2006/relationships/slide" Target="slides/slide2.xml"/><Relationship Id="rId21" Type="http://schemas.openxmlformats.org/officeDocument/2006/relationships/font" Target="fonts/font5.fntdata"/><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font" Target="fonts/font9.fntdata"/><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4.fntdata"/><Relationship Id="rId29" Type="http://schemas.openxmlformats.org/officeDocument/2006/relationships/font" Target="fonts/font1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font" Target="fonts/font12.fntdata"/><Relationship Id="rId10" Type="http://schemas.openxmlformats.org/officeDocument/2006/relationships/slide" Target="slides/slide9.xml"/><Relationship Id="rId19" Type="http://schemas.openxmlformats.org/officeDocument/2006/relationships/font" Target="fonts/font3.fntdata"/><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font" Target="fonts/font11.fntdata"/><Relationship Id="rId30" Type="http://schemas.openxmlformats.org/officeDocument/2006/relationships/font" Target="fonts/font14.fntdata"/><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5.jpeg"/></Relationships>
</file>

<file path=ppt/slides/_rels/slide1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6.jpeg"/></Relationships>
</file>

<file path=ppt/slides/_rels/slide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7.jpeg"/></Relationships>
</file>

<file path=ppt/slides/_rels/slide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8.jpeg"/></Relationships>
</file>

<file path=ppt/slides/_rels/slide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0" name="Group 10"/>
          <p:cNvGrpSpPr/>
          <p:nvPr/>
        </p:nvGrpSpPr>
        <p:grpSpPr>
          <a:xfrm>
            <a:off x="11762088" y="-9632634"/>
            <a:ext cx="10994424" cy="10994424"/>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US"/>
            </a:p>
          </p:txBody>
        </p:sp>
        <p:sp>
          <p:nvSpPr>
            <p:cNvPr id="12" name="TextBox 12"/>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a:off x="-9965724" y="-1383136"/>
            <a:ext cx="10994424" cy="10994424"/>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US"/>
            </a:p>
          </p:txBody>
        </p:sp>
        <p:sp>
          <p:nvSpPr>
            <p:cNvPr id="21" name="TextBox 21"/>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pic>
        <p:nvPicPr>
          <p:cNvPr id="23" name="Picture 22">
            <a:extLst>
              <a:ext uri="{FF2B5EF4-FFF2-40B4-BE49-F238E27FC236}">
                <a16:creationId xmlns:a16="http://schemas.microsoft.com/office/drawing/2014/main" id="{1194AAA3-5CF4-E695-04C9-0894FFF6F1F1}"/>
              </a:ext>
            </a:extLst>
          </p:cNvPr>
          <p:cNvPicPr>
            <a:picLocks noChangeAspect="1"/>
          </p:cNvPicPr>
          <p:nvPr/>
        </p:nvPicPr>
        <p:blipFill>
          <a:blip r:embed="rId2"/>
          <a:stretch>
            <a:fillRect/>
          </a:stretch>
        </p:blipFill>
        <p:spPr>
          <a:xfrm>
            <a:off x="6610443" y="196689"/>
            <a:ext cx="4752247" cy="1360611"/>
          </a:xfrm>
          <a:prstGeom prst="rect">
            <a:avLst/>
          </a:prstGeom>
        </p:spPr>
      </p:pic>
      <p:sp>
        <p:nvSpPr>
          <p:cNvPr id="24" name="TextBox 23">
            <a:extLst>
              <a:ext uri="{FF2B5EF4-FFF2-40B4-BE49-F238E27FC236}">
                <a16:creationId xmlns:a16="http://schemas.microsoft.com/office/drawing/2014/main" id="{BB0EB85C-D9CE-08DC-1131-77C9DD1A002D}"/>
              </a:ext>
            </a:extLst>
          </p:cNvPr>
          <p:cNvSpPr txBox="1"/>
          <p:nvPr/>
        </p:nvSpPr>
        <p:spPr>
          <a:xfrm>
            <a:off x="1360002" y="1608482"/>
            <a:ext cx="15925800" cy="1631216"/>
          </a:xfrm>
          <a:prstGeom prst="rect">
            <a:avLst/>
          </a:prstGeom>
          <a:noFill/>
        </p:spPr>
        <p:txBody>
          <a:bodyPr wrap="square" rtlCol="0">
            <a:spAutoFit/>
          </a:bodyPr>
          <a:lstStyle/>
          <a:p>
            <a:pPr algn="ctr"/>
            <a:r>
              <a:rPr lang="en-US" sz="3200" b="1" dirty="0">
                <a:latin typeface="Cambria" panose="02040503050406030204" pitchFamily="18" charset="0"/>
                <a:ea typeface="Cambria" panose="02040503050406030204" pitchFamily="18" charset="0"/>
              </a:rPr>
              <a:t>Vel Tech Rangarajan Dr. Sagunthala R&amp;D Institute of Science and Technology</a:t>
            </a:r>
          </a:p>
          <a:p>
            <a:pPr algn="ctr"/>
            <a:r>
              <a:rPr lang="en-US" sz="3600" b="1" dirty="0">
                <a:latin typeface="Cambria" panose="02040503050406030204" pitchFamily="18" charset="0"/>
                <a:ea typeface="Cambria" panose="02040503050406030204" pitchFamily="18" charset="0"/>
              </a:rPr>
              <a:t>School of Computing </a:t>
            </a:r>
          </a:p>
          <a:p>
            <a:pPr algn="ctr"/>
            <a:r>
              <a:rPr lang="en-US" sz="3200" b="1" dirty="0">
                <a:latin typeface="Cambria" panose="02040503050406030204" pitchFamily="18" charset="0"/>
                <a:ea typeface="Cambria" panose="02040503050406030204" pitchFamily="18" charset="0"/>
              </a:rPr>
              <a:t>Department of Computer Science and Engineering</a:t>
            </a:r>
            <a:endParaRPr lang="en-IN" sz="3200" b="1" dirty="0">
              <a:latin typeface="Cambria" panose="02040503050406030204" pitchFamily="18" charset="0"/>
              <a:ea typeface="Cambria" panose="02040503050406030204" pitchFamily="18" charset="0"/>
            </a:endParaRPr>
          </a:p>
        </p:txBody>
      </p:sp>
      <p:sp>
        <p:nvSpPr>
          <p:cNvPr id="26" name="TextBox 25">
            <a:extLst>
              <a:ext uri="{FF2B5EF4-FFF2-40B4-BE49-F238E27FC236}">
                <a16:creationId xmlns:a16="http://schemas.microsoft.com/office/drawing/2014/main" id="{55785AF5-58C8-2624-E1FD-4723B0683DE6}"/>
              </a:ext>
            </a:extLst>
          </p:cNvPr>
          <p:cNvSpPr txBox="1"/>
          <p:nvPr/>
        </p:nvSpPr>
        <p:spPr>
          <a:xfrm>
            <a:off x="1692835" y="3272357"/>
            <a:ext cx="15260135" cy="523220"/>
          </a:xfrm>
          <a:prstGeom prst="rect">
            <a:avLst/>
          </a:prstGeom>
          <a:noFill/>
        </p:spPr>
        <p:txBody>
          <a:bodyPr wrap="square">
            <a:spAutoFit/>
          </a:bodyPr>
          <a:lstStyle/>
          <a:p>
            <a:pPr algn="ctr"/>
            <a:r>
              <a:rPr lang="en-US" sz="2800" b="1" dirty="0">
                <a:solidFill>
                  <a:srgbClr val="0033CC"/>
                </a:solidFill>
                <a:latin typeface="Bookman Old Style" panose="02050604050505020204" pitchFamily="18" charset="0"/>
              </a:rPr>
              <a:t>10211CS224 / FULL STACK APPLICATION DEVELOPMENT (JAVA)</a:t>
            </a:r>
            <a:endParaRPr lang="en-IN" sz="2800" b="1" dirty="0">
              <a:solidFill>
                <a:srgbClr val="0033CC"/>
              </a:solidFill>
              <a:latin typeface="Bookman Old Style" panose="02050604050505020204" pitchFamily="18" charset="0"/>
            </a:endParaRPr>
          </a:p>
        </p:txBody>
      </p:sp>
      <p:sp>
        <p:nvSpPr>
          <p:cNvPr id="27" name="TextBox 26">
            <a:extLst>
              <a:ext uri="{FF2B5EF4-FFF2-40B4-BE49-F238E27FC236}">
                <a16:creationId xmlns:a16="http://schemas.microsoft.com/office/drawing/2014/main" id="{AC6C53BF-3850-6683-E07F-D595EC8B02B2}"/>
              </a:ext>
            </a:extLst>
          </p:cNvPr>
          <p:cNvSpPr txBox="1"/>
          <p:nvPr/>
        </p:nvSpPr>
        <p:spPr>
          <a:xfrm>
            <a:off x="3727757" y="3897940"/>
            <a:ext cx="11190289" cy="1754326"/>
          </a:xfrm>
          <a:prstGeom prst="rect">
            <a:avLst/>
          </a:prstGeom>
          <a:noFill/>
        </p:spPr>
        <p:txBody>
          <a:bodyPr wrap="square" rtlCol="0">
            <a:spAutoFit/>
          </a:bodyPr>
          <a:lstStyle/>
          <a:p>
            <a:pPr algn="ctr"/>
            <a:r>
              <a:rPr lang="en-IN" sz="3600" b="1" smtClean="0">
                <a:solidFill>
                  <a:srgbClr val="C00000"/>
                </a:solidFill>
                <a:latin typeface="Arial" panose="020B0604020202020204" pitchFamily="34" charset="0"/>
                <a:cs typeface="Arial" panose="020B0604020202020204" pitchFamily="34" charset="0"/>
              </a:rPr>
              <a:t>END SEMESTER PROJECT REVIEW</a:t>
            </a:r>
            <a:endParaRPr lang="en-IN" sz="3600" b="1" dirty="0">
              <a:solidFill>
                <a:srgbClr val="C00000"/>
              </a:solidFill>
              <a:latin typeface="Arial" panose="020B0604020202020204" pitchFamily="34" charset="0"/>
              <a:cs typeface="Arial" panose="020B0604020202020204" pitchFamily="34" charset="0"/>
            </a:endParaRPr>
          </a:p>
          <a:p>
            <a:pPr algn="ctr"/>
            <a:endParaRPr lang="en-IN" sz="3600" b="1" dirty="0">
              <a:solidFill>
                <a:srgbClr val="C00000"/>
              </a:solidFill>
              <a:latin typeface="Arial" panose="020B0604020202020204" pitchFamily="34" charset="0"/>
              <a:cs typeface="Arial" panose="020B0604020202020204" pitchFamily="34" charset="0"/>
            </a:endParaRPr>
          </a:p>
          <a:p>
            <a:pPr algn="ctr"/>
            <a:r>
              <a:rPr lang="en-IN" sz="3600" b="1" dirty="0">
                <a:solidFill>
                  <a:srgbClr val="C00000"/>
                </a:solidFill>
                <a:latin typeface="Arial" panose="020B0604020202020204" pitchFamily="34" charset="0"/>
                <a:cs typeface="Arial" panose="020B0604020202020204" pitchFamily="34" charset="0"/>
              </a:rPr>
              <a:t>Date: </a:t>
            </a:r>
            <a:r>
              <a:rPr lang="en-IN" sz="3600" b="1" dirty="0" smtClean="0">
                <a:solidFill>
                  <a:srgbClr val="C00000"/>
                </a:solidFill>
                <a:latin typeface="Arial" panose="020B0604020202020204" pitchFamily="34" charset="0"/>
                <a:cs typeface="Arial" panose="020B0604020202020204" pitchFamily="34" charset="0"/>
              </a:rPr>
              <a:t>06</a:t>
            </a:r>
            <a:r>
              <a:rPr lang="en-IN" sz="3600" b="1" dirty="0" smtClean="0">
                <a:solidFill>
                  <a:srgbClr val="C00000"/>
                </a:solidFill>
                <a:latin typeface="Arial" panose="020B0604020202020204" pitchFamily="34" charset="0"/>
                <a:cs typeface="Arial" panose="020B0604020202020204" pitchFamily="34" charset="0"/>
              </a:rPr>
              <a:t>-05-2026</a:t>
            </a:r>
            <a:endParaRPr lang="en-IN" sz="3600" b="1" dirty="0">
              <a:solidFill>
                <a:srgbClr val="C00000"/>
              </a:solidFill>
              <a:latin typeface="Arial" panose="020B0604020202020204" pitchFamily="34" charset="0"/>
              <a:cs typeface="Arial" panose="020B0604020202020204" pitchFamily="34" charset="0"/>
            </a:endParaRPr>
          </a:p>
        </p:txBody>
      </p:sp>
      <p:sp>
        <p:nvSpPr>
          <p:cNvPr id="13" name="TextBox 12">
            <a:extLst>
              <a:ext uri="{FF2B5EF4-FFF2-40B4-BE49-F238E27FC236}">
                <a16:creationId xmlns:a16="http://schemas.microsoft.com/office/drawing/2014/main" id="{7FFE0DA2-4723-7C13-5FD7-FC99B0394DDD}"/>
              </a:ext>
            </a:extLst>
          </p:cNvPr>
          <p:cNvSpPr txBox="1"/>
          <p:nvPr/>
        </p:nvSpPr>
        <p:spPr>
          <a:xfrm>
            <a:off x="1251919" y="6019895"/>
            <a:ext cx="15784162" cy="646331"/>
          </a:xfrm>
          <a:prstGeom prst="rect">
            <a:avLst/>
          </a:prstGeom>
          <a:noFill/>
        </p:spPr>
        <p:txBody>
          <a:bodyPr wrap="square" rtlCol="0">
            <a:spAutoFit/>
          </a:bodyPr>
          <a:lstStyle/>
          <a:p>
            <a:pPr algn="ctr"/>
            <a:r>
              <a:rPr lang="en-US" sz="3600" b="1" dirty="0" smtClean="0">
                <a:solidFill>
                  <a:srgbClr val="0033CC"/>
                </a:solidFill>
                <a:latin typeface="Times New Roman" panose="02020603050405020304" pitchFamily="18" charset="0"/>
                <a:cs typeface="Times New Roman" panose="02020603050405020304" pitchFamily="18" charset="0"/>
              </a:rPr>
              <a:t>Event Management And Registration System Using </a:t>
            </a:r>
            <a:r>
              <a:rPr lang="en-US" sz="3600" b="1" dirty="0" err="1" smtClean="0">
                <a:solidFill>
                  <a:srgbClr val="0033CC"/>
                </a:solidFill>
                <a:latin typeface="Times New Roman" panose="02020603050405020304" pitchFamily="18" charset="0"/>
                <a:cs typeface="Times New Roman" panose="02020603050405020304" pitchFamily="18" charset="0"/>
              </a:rPr>
              <a:t>SpringBoot</a:t>
            </a:r>
            <a:endParaRPr lang="en-US" sz="3600" b="1" dirty="0" smtClean="0">
              <a:solidFill>
                <a:srgbClr val="0033CC"/>
              </a:solidFill>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EA8EEF4A-EB43-B7D9-87FC-7C7D752BCA78}"/>
              </a:ext>
            </a:extLst>
          </p:cNvPr>
          <p:cNvSpPr txBox="1"/>
          <p:nvPr/>
        </p:nvSpPr>
        <p:spPr>
          <a:xfrm>
            <a:off x="893870" y="7800539"/>
            <a:ext cx="9067800" cy="1391663"/>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Presented By:</a:t>
            </a:r>
          </a:p>
          <a:p>
            <a:pPr>
              <a:lnSpc>
                <a:spcPct val="150000"/>
              </a:lnSpc>
            </a:pPr>
            <a:r>
              <a:rPr lang="en-US" sz="3000" dirty="0" err="1">
                <a:latin typeface="Cambria" panose="02040503050406030204" pitchFamily="18" charset="0"/>
                <a:ea typeface="Cambria" panose="02040503050406030204" pitchFamily="18" charset="0"/>
              </a:rPr>
              <a:t>K.Spandana</a:t>
            </a:r>
            <a:r>
              <a:rPr lang="en-US" sz="3000" dirty="0">
                <a:latin typeface="Cambria" panose="02040503050406030204" pitchFamily="18" charset="0"/>
                <a:ea typeface="Cambria" panose="02040503050406030204" pitchFamily="18" charset="0"/>
              </a:rPr>
              <a:t> – VTU26084 – 23UECS0765</a:t>
            </a:r>
            <a:endParaRPr lang="en-IN" sz="3000" dirty="0">
              <a:latin typeface="Cambria" panose="02040503050406030204" pitchFamily="18" charset="0"/>
              <a:ea typeface="Cambria" panose="02040503050406030204" pitchFamily="18" charset="0"/>
            </a:endParaRPr>
          </a:p>
        </p:txBody>
      </p:sp>
      <p:sp>
        <p:nvSpPr>
          <p:cNvPr id="15" name="TextBox 14">
            <a:extLst>
              <a:ext uri="{FF2B5EF4-FFF2-40B4-BE49-F238E27FC236}">
                <a16:creationId xmlns:a16="http://schemas.microsoft.com/office/drawing/2014/main" id="{6FF32D1A-2F9C-AC53-CCBD-ABF748DF236F}"/>
              </a:ext>
            </a:extLst>
          </p:cNvPr>
          <p:cNvSpPr txBox="1"/>
          <p:nvPr/>
        </p:nvSpPr>
        <p:spPr>
          <a:xfrm>
            <a:off x="10945035" y="7818586"/>
            <a:ext cx="6914603" cy="2084160"/>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Courses Handling Faculty:</a:t>
            </a:r>
          </a:p>
          <a:p>
            <a:pPr>
              <a:lnSpc>
                <a:spcPct val="150000"/>
              </a:lnSpc>
            </a:pPr>
            <a:r>
              <a:rPr lang="en-US" sz="3000" dirty="0">
                <a:latin typeface="Cambria" panose="02040503050406030204" pitchFamily="18" charset="0"/>
                <a:ea typeface="Cambria" panose="02040503050406030204" pitchFamily="18" charset="0"/>
              </a:rPr>
              <a:t>Dr. S.  Hemamalini, M. E, Ph.D.,</a:t>
            </a:r>
          </a:p>
          <a:p>
            <a:pPr>
              <a:lnSpc>
                <a:spcPct val="150000"/>
              </a:lnSpc>
            </a:pPr>
            <a:r>
              <a:rPr lang="en-US" sz="3000" dirty="0">
                <a:latin typeface="Cambria" panose="02040503050406030204" pitchFamily="18" charset="0"/>
                <a:ea typeface="Cambria" panose="02040503050406030204" pitchFamily="18" charset="0"/>
              </a:rPr>
              <a:t>Assistant Professor (senior grade)</a:t>
            </a:r>
            <a:endParaRPr lang="en-IN" sz="3000" dirty="0">
              <a:latin typeface="Cambria" panose="02040503050406030204" pitchFamily="18" charset="0"/>
              <a:ea typeface="Cambria" panose="02040503050406030204" pitchFamily="18" charset="0"/>
            </a:endParaRPr>
          </a:p>
        </p:txBody>
      </p:sp>
      <p:sp>
        <p:nvSpPr>
          <p:cNvPr id="16" name="TextBox 15">
            <a:extLst>
              <a:ext uri="{FF2B5EF4-FFF2-40B4-BE49-F238E27FC236}">
                <a16:creationId xmlns:a16="http://schemas.microsoft.com/office/drawing/2014/main" id="{A7AA51DE-E8D7-A1B4-BC0D-B25C8A0C467A}"/>
              </a:ext>
            </a:extLst>
          </p:cNvPr>
          <p:cNvSpPr txBox="1"/>
          <p:nvPr/>
        </p:nvSpPr>
        <p:spPr>
          <a:xfrm>
            <a:off x="2209800" y="6972300"/>
            <a:ext cx="14743170" cy="707886"/>
          </a:xfrm>
          <a:prstGeom prst="rect">
            <a:avLst/>
          </a:prstGeom>
          <a:noFill/>
        </p:spPr>
        <p:txBody>
          <a:bodyPr wrap="square" rtlCol="0">
            <a:spAutoFit/>
          </a:bodyPr>
          <a:lstStyle/>
          <a:p>
            <a:r>
              <a:rPr lang="en-US" sz="2000" b="1" dirty="0">
                <a:latin typeface="Cambria" panose="02040503050406030204" pitchFamily="18" charset="0"/>
                <a:ea typeface="Cambria" panose="02040503050406030204" pitchFamily="18" charset="0"/>
              </a:rPr>
              <a:t>SDG: SDG No - 4 Quality Education</a:t>
            </a:r>
          </a:p>
          <a:p>
            <a:endParaRPr lang="en-IN" sz="2000" b="1" dirty="0">
              <a:latin typeface="Cambria" panose="02040503050406030204" pitchFamily="18" charset="0"/>
              <a:ea typeface="Cambria" panose="020405030504060302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8" name="Freeform 8"/>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txBody>
          <a:bodyPr/>
          <a:lstStyle/>
          <a:p>
            <a:endParaRPr lang="en-US"/>
          </a:p>
        </p:txBody>
      </p:sp>
      <p:grpSp>
        <p:nvGrpSpPr>
          <p:cNvPr id="9" name="Group 9"/>
          <p:cNvGrpSpPr/>
          <p:nvPr/>
        </p:nvGrpSpPr>
        <p:grpSpPr>
          <a:xfrm>
            <a:off x="706082" y="1952203"/>
            <a:ext cx="992463" cy="992463"/>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11" name="TextBox 1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1</a:t>
              </a:r>
            </a:p>
          </p:txBody>
        </p:sp>
      </p:grpSp>
      <p:grpSp>
        <p:nvGrpSpPr>
          <p:cNvPr id="12" name="Group 12"/>
          <p:cNvGrpSpPr/>
          <p:nvPr/>
        </p:nvGrpSpPr>
        <p:grpSpPr>
          <a:xfrm>
            <a:off x="948235" y="4447339"/>
            <a:ext cx="508158" cy="543805"/>
            <a:chOff x="0" y="0"/>
            <a:chExt cx="812800" cy="869819"/>
          </a:xfrm>
        </p:grpSpPr>
        <p:sp>
          <p:nvSpPr>
            <p:cNvPr id="13" name="Freeform 1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4" name="TextBox 1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5" name="Group 15"/>
          <p:cNvGrpSpPr/>
          <p:nvPr/>
        </p:nvGrpSpPr>
        <p:grpSpPr>
          <a:xfrm>
            <a:off x="948235" y="3107362"/>
            <a:ext cx="508158" cy="543805"/>
            <a:chOff x="0" y="0"/>
            <a:chExt cx="812800" cy="869819"/>
          </a:xfrm>
        </p:grpSpPr>
        <p:sp>
          <p:nvSpPr>
            <p:cNvPr id="16" name="Freeform 1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7" name="TextBox 1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18" name="Group 18"/>
          <p:cNvGrpSpPr/>
          <p:nvPr/>
        </p:nvGrpSpPr>
        <p:grpSpPr>
          <a:xfrm>
            <a:off x="948235" y="5115753"/>
            <a:ext cx="508158" cy="543805"/>
            <a:chOff x="0" y="0"/>
            <a:chExt cx="812800" cy="869819"/>
          </a:xfrm>
        </p:grpSpPr>
        <p:sp>
          <p:nvSpPr>
            <p:cNvPr id="19" name="Freeform 1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0" name="TextBox 2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1" name="Group 21"/>
          <p:cNvGrpSpPr/>
          <p:nvPr/>
        </p:nvGrpSpPr>
        <p:grpSpPr>
          <a:xfrm>
            <a:off x="948235" y="3776486"/>
            <a:ext cx="508158" cy="543805"/>
            <a:chOff x="0" y="0"/>
            <a:chExt cx="812800" cy="869819"/>
          </a:xfrm>
        </p:grpSpPr>
        <p:sp>
          <p:nvSpPr>
            <p:cNvPr id="22" name="Freeform 2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3" name="TextBox 2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4" name="Group 24"/>
          <p:cNvGrpSpPr/>
          <p:nvPr/>
        </p:nvGrpSpPr>
        <p:grpSpPr>
          <a:xfrm>
            <a:off x="948235" y="6455730"/>
            <a:ext cx="508158" cy="543805"/>
            <a:chOff x="0" y="0"/>
            <a:chExt cx="812800" cy="869819"/>
          </a:xfrm>
        </p:grpSpPr>
        <p:sp>
          <p:nvSpPr>
            <p:cNvPr id="25" name="Freeform 2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6" name="TextBox 2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7" name="Group 27"/>
          <p:cNvGrpSpPr/>
          <p:nvPr/>
        </p:nvGrpSpPr>
        <p:grpSpPr>
          <a:xfrm>
            <a:off x="948235" y="5784877"/>
            <a:ext cx="508158" cy="543805"/>
            <a:chOff x="0" y="0"/>
            <a:chExt cx="812800" cy="869819"/>
          </a:xfrm>
        </p:grpSpPr>
        <p:sp>
          <p:nvSpPr>
            <p:cNvPr id="28" name="Freeform 2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9" name="TextBox 2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48235" y="7123361"/>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48235" y="7790991"/>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2" name="TextBox 1">
            <a:extLst>
              <a:ext uri="{FF2B5EF4-FFF2-40B4-BE49-F238E27FC236}">
                <a16:creationId xmlns:a16="http://schemas.microsoft.com/office/drawing/2014/main" id="{DE796552-E8BF-2718-F921-20F9BAE7EE98}"/>
              </a:ext>
            </a:extLst>
          </p:cNvPr>
          <p:cNvSpPr txBox="1"/>
          <p:nvPr/>
        </p:nvSpPr>
        <p:spPr>
          <a:xfrm>
            <a:off x="152400" y="342900"/>
            <a:ext cx="181356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INTRODUCTION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837E9E58-77B6-079D-9D0D-E380CADAD23D}"/>
              </a:ext>
            </a:extLst>
          </p:cNvPr>
          <p:cNvSpPr txBox="1"/>
          <p:nvPr/>
        </p:nvSpPr>
        <p:spPr>
          <a:xfrm>
            <a:off x="2209800" y="1638300"/>
            <a:ext cx="15082325" cy="12157174"/>
          </a:xfrm>
          <a:prstGeom prst="rect">
            <a:avLst/>
          </a:prstGeom>
          <a:noFill/>
        </p:spPr>
        <p:txBody>
          <a:bodyPr wrap="square" rtlCol="0">
            <a:spAutoFit/>
          </a:bodyPr>
          <a:lstStyle/>
          <a:p>
            <a:pPr algn="just"/>
            <a:r>
              <a:rPr lang="en-US" sz="2800" b="1" dirty="0">
                <a:latin typeface="Times New Roman" panose="02020603050405020304" pitchFamily="18" charset="0"/>
                <a:cs typeface="Times New Roman" panose="02020603050405020304" pitchFamily="18" charset="0"/>
              </a:rPr>
              <a:t>Background :</a:t>
            </a: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 Managing campus events manually using notices or spreadsheets is inefficient and leads to poor communication and data management. This creates difficulties in tracking event details, registrations, and updates for both students and administrators.</a:t>
            </a:r>
          </a:p>
          <a:p>
            <a:pPr marL="457200" indent="-457200" algn="just">
              <a:buFont typeface="Arial" panose="020B0604020202020204" pitchFamily="34" charset="0"/>
              <a:buChar char="•"/>
            </a:pPr>
            <a:endParaRPr lang="en-US" sz="2800" b="1" dirty="0">
              <a:latin typeface="Times New Roman" panose="02020603050405020304" pitchFamily="18" charset="0"/>
              <a:cs typeface="Times New Roman" panose="02020603050405020304" pitchFamily="18" charset="0"/>
            </a:endParaRPr>
          </a:p>
          <a:p>
            <a:pPr algn="just"/>
            <a:r>
              <a:rPr lang="en-US" sz="2800" b="1" dirty="0">
                <a:latin typeface="Times New Roman" panose="02020603050405020304" pitchFamily="18" charset="0"/>
                <a:cs typeface="Times New Roman" panose="02020603050405020304" pitchFamily="18" charset="0"/>
              </a:rPr>
              <a:t>Need for the project :</a:t>
            </a: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There is a need for a centralized system to manage campus events efficiently and reduce manual work. This project helps streamline event creation, registration, and tracking, improving overall organization and user experience.</a:t>
            </a:r>
          </a:p>
          <a:p>
            <a:pPr marL="457200" indent="-457200" algn="just">
              <a:buFont typeface="Arial" panose="020B0604020202020204" pitchFamily="34" charset="0"/>
              <a:buChar char="•"/>
            </a:pPr>
            <a:endParaRPr lang="en-US" sz="2800" b="1" dirty="0">
              <a:latin typeface="Times New Roman" panose="02020603050405020304" pitchFamily="18" charset="0"/>
              <a:cs typeface="Times New Roman" panose="02020603050405020304" pitchFamily="18" charset="0"/>
            </a:endParaRPr>
          </a:p>
          <a:p>
            <a:pPr algn="just"/>
            <a:r>
              <a:rPr lang="en-US" sz="2800" b="1" dirty="0">
                <a:latin typeface="Times New Roman" panose="02020603050405020304" pitchFamily="18" charset="0"/>
                <a:cs typeface="Times New Roman" panose="02020603050405020304" pitchFamily="18" charset="0"/>
              </a:rPr>
              <a:t>Real-World Relevance :</a:t>
            </a: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This system can be used in colleges and universities to efficiently manage multiple events and student registrations. It reflects real-world applications where digital platforms simplify event coordination and improve communication between users and organizers.</a:t>
            </a:r>
          </a:p>
          <a:p>
            <a:pPr marL="457200" indent="-457200" algn="just">
              <a:buFont typeface="Arial" panose="020B0604020202020204" pitchFamily="34" charset="0"/>
              <a:buChar char="•"/>
            </a:pPr>
            <a:endParaRPr lang="en-US" sz="2800" b="1" dirty="0">
              <a:latin typeface="Times New Roman" panose="02020603050405020304" pitchFamily="18" charset="0"/>
              <a:cs typeface="Times New Roman" panose="02020603050405020304" pitchFamily="18" charset="0"/>
            </a:endParaRPr>
          </a:p>
          <a:p>
            <a:pPr algn="just"/>
            <a:r>
              <a:rPr lang="en-US" sz="2800" b="1" dirty="0">
                <a:latin typeface="Times New Roman" panose="02020603050405020304" pitchFamily="18" charset="0"/>
                <a:cs typeface="Times New Roman" panose="02020603050405020304" pitchFamily="18" charset="0"/>
              </a:rPr>
              <a:t>System Overview :</a:t>
            </a: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The system is a web-based application where students can view and register for campus events, while administrators can create, update, and manage event details. It uses Spring Boot, JPA, and Thymeleaf to provide a structured and user-friendly event management platform.</a:t>
            </a:r>
          </a:p>
          <a:p>
            <a:pPr marL="457200" indent="-457200" algn="just">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10"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txBody>
          <a:bodyPr/>
          <a:lstStyle/>
          <a:p>
            <a:endParaRPr lang="en-US"/>
          </a:p>
        </p:txBody>
      </p:sp>
      <p:grpSp>
        <p:nvGrpSpPr>
          <p:cNvPr id="11" name="Group 11"/>
          <p:cNvGrpSpPr/>
          <p:nvPr/>
        </p:nvGrpSpPr>
        <p:grpSpPr>
          <a:xfrm>
            <a:off x="709357" y="2648112"/>
            <a:ext cx="992463" cy="99246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13" name="TextBox 13"/>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2</a:t>
              </a:r>
            </a:p>
          </p:txBody>
        </p:sp>
      </p:grpSp>
      <p:grpSp>
        <p:nvGrpSpPr>
          <p:cNvPr id="14" name="Group 14"/>
          <p:cNvGrpSpPr/>
          <p:nvPr/>
        </p:nvGrpSpPr>
        <p:grpSpPr>
          <a:xfrm>
            <a:off x="951509" y="4428296"/>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1982349"/>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0" name="Group 20"/>
          <p:cNvGrpSpPr/>
          <p:nvPr/>
        </p:nvGrpSpPr>
        <p:grpSpPr>
          <a:xfrm>
            <a:off x="951509" y="509405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3" name="Group 23"/>
          <p:cNvGrpSpPr/>
          <p:nvPr/>
        </p:nvGrpSpPr>
        <p:grpSpPr>
          <a:xfrm>
            <a:off x="951509" y="376253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6" name="Group 26"/>
          <p:cNvGrpSpPr/>
          <p:nvPr/>
        </p:nvGrpSpPr>
        <p:grpSpPr>
          <a:xfrm>
            <a:off x="951509" y="6425585"/>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p:cNvGrpSpPr/>
          <p:nvPr/>
        </p:nvGrpSpPr>
        <p:grpSpPr>
          <a:xfrm>
            <a:off x="951509" y="5759822"/>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51509" y="7093216"/>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51509" y="7760846"/>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7" name="TextBox 46">
            <a:extLst>
              <a:ext uri="{FF2B5EF4-FFF2-40B4-BE49-F238E27FC236}">
                <a16:creationId xmlns:a16="http://schemas.microsoft.com/office/drawing/2014/main" id="{A8A7B8E9-D90B-1CF8-14D3-8D2483CAFC5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PROBLEM STATEMENT</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BDE2941C-1504-53F9-99B2-48002CA9A345}"/>
              </a:ext>
            </a:extLst>
          </p:cNvPr>
          <p:cNvSpPr txBox="1"/>
          <p:nvPr/>
        </p:nvSpPr>
        <p:spPr>
          <a:xfrm>
            <a:off x="2209800" y="1638300"/>
            <a:ext cx="15082325" cy="10433625"/>
          </a:xfrm>
          <a:prstGeom prst="rect">
            <a:avLst/>
          </a:prstGeom>
          <a:noFill/>
        </p:spPr>
        <p:txBody>
          <a:bodyPr wrap="square" rtlCol="0">
            <a:spAutoFit/>
          </a:bodyPr>
          <a:lstStyle/>
          <a:p>
            <a:pPr algn="just"/>
            <a:r>
              <a:rPr lang="en-US" sz="2800" dirty="0">
                <a:latin typeface="Times New Roman" panose="02020603050405020304" pitchFamily="18" charset="0"/>
                <a:cs typeface="Times New Roman" panose="02020603050405020304" pitchFamily="18" charset="0"/>
              </a:rPr>
              <a:t>                              In many educational institutions, campus event management is still handled through manual or semi-digital methods, leading to inefficiencies and lack of coordination. Event information is often fragmented, making it difficult for students to stay informed and participate effectively.</a:t>
            </a:r>
          </a:p>
          <a:p>
            <a:pPr algn="just"/>
            <a:endParaRPr lang="en-US" sz="2800" dirty="0">
              <a:latin typeface="Times New Roman" panose="02020603050405020304" pitchFamily="18" charset="0"/>
              <a:cs typeface="Times New Roman" panose="02020603050405020304" pitchFamily="18" charset="0"/>
            </a:endParaRPr>
          </a:p>
          <a:p>
            <a:pPr algn="just"/>
            <a:r>
              <a:rPr lang="en-US" sz="2800" dirty="0">
                <a:latin typeface="Times New Roman" panose="02020603050405020304" pitchFamily="18" charset="0"/>
                <a:cs typeface="Times New Roman" panose="02020603050405020304" pitchFamily="18" charset="0"/>
              </a:rPr>
              <a:t> Administrators face challenges in managing registrations, updating event details, and maintaining accurate records. The absence of a centralized system results in poor communication and limited scalability. </a:t>
            </a:r>
          </a:p>
          <a:p>
            <a:pPr algn="just"/>
            <a:endParaRPr lang="en-US" sz="2800" dirty="0">
              <a:latin typeface="Times New Roman" panose="02020603050405020304" pitchFamily="18" charset="0"/>
              <a:cs typeface="Times New Roman" panose="02020603050405020304" pitchFamily="18" charset="0"/>
            </a:endParaRPr>
          </a:p>
          <a:p>
            <a:pPr algn="just"/>
            <a:r>
              <a:rPr lang="en-US" sz="2800" dirty="0">
                <a:latin typeface="Times New Roman" panose="02020603050405020304" pitchFamily="18" charset="0"/>
                <a:cs typeface="Times New Roman" panose="02020603050405020304" pitchFamily="18" charset="0"/>
              </a:rPr>
              <a:t> These limitations affect the overall efficiency and organization of campus activities. Therefore, there is a strong need for a structured, reliable, and automated solution to streamline event management and enhance user experience.</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09357" y="3315742"/>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3</a:t>
              </a:r>
            </a:p>
          </p:txBody>
        </p:sp>
      </p:grpSp>
      <p:grpSp>
        <p:nvGrpSpPr>
          <p:cNvPr id="10" name="Group 10"/>
          <p:cNvGrpSpPr/>
          <p:nvPr/>
        </p:nvGrpSpPr>
        <p:grpSpPr>
          <a:xfrm>
            <a:off x="951509" y="4428296"/>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3" name="Group 13"/>
          <p:cNvGrpSpPr/>
          <p:nvPr/>
        </p:nvGrpSpPr>
        <p:grpSpPr>
          <a:xfrm>
            <a:off x="951509"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51509" y="5094059"/>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19" name="Group 19"/>
          <p:cNvGrpSpPr/>
          <p:nvPr/>
        </p:nvGrpSpPr>
        <p:grpSpPr>
          <a:xfrm>
            <a:off x="951509"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51509" y="6425585"/>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5" name="Group 25"/>
          <p:cNvGrpSpPr/>
          <p:nvPr/>
        </p:nvGrpSpPr>
        <p:grpSpPr>
          <a:xfrm>
            <a:off x="951509" y="575982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41" name="Group 41"/>
          <p:cNvGrpSpPr/>
          <p:nvPr/>
        </p:nvGrpSpPr>
        <p:grpSpPr>
          <a:xfrm>
            <a:off x="951509" y="7093216"/>
            <a:ext cx="508158" cy="543805"/>
            <a:chOff x="0" y="0"/>
            <a:chExt cx="812800" cy="869819"/>
          </a:xfrm>
        </p:grpSpPr>
        <p:sp>
          <p:nvSpPr>
            <p:cNvPr id="42" name="Freeform 4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43" name="TextBox 4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4" name="Group 44"/>
          <p:cNvGrpSpPr/>
          <p:nvPr/>
        </p:nvGrpSpPr>
        <p:grpSpPr>
          <a:xfrm>
            <a:off x="951509" y="7760846"/>
            <a:ext cx="508158" cy="543805"/>
            <a:chOff x="0" y="0"/>
            <a:chExt cx="812800" cy="869819"/>
          </a:xfrm>
        </p:grpSpPr>
        <p:sp>
          <p:nvSpPr>
            <p:cNvPr id="45" name="Freeform 4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46" name="TextBox 4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50" name="TextBox 49">
            <a:extLst>
              <a:ext uri="{FF2B5EF4-FFF2-40B4-BE49-F238E27FC236}">
                <a16:creationId xmlns:a16="http://schemas.microsoft.com/office/drawing/2014/main" id="{5B915D36-EE4F-CB45-6DD3-E1B9C803EB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OBJECTIVE(S)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1" name="Freeform 10">
            <a:extLst>
              <a:ext uri="{FF2B5EF4-FFF2-40B4-BE49-F238E27FC236}">
                <a16:creationId xmlns:a16="http://schemas.microsoft.com/office/drawing/2014/main" id="{CC7EEF9B-9155-23B5-AEE9-85067B6C258B}"/>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txBody>
          <a:bodyPr/>
          <a:lstStyle/>
          <a:p>
            <a:endParaRPr lang="en-US"/>
          </a:p>
        </p:txBody>
      </p:sp>
      <p:sp>
        <p:nvSpPr>
          <p:cNvPr id="52" name="TextBox 51">
            <a:extLst>
              <a:ext uri="{FF2B5EF4-FFF2-40B4-BE49-F238E27FC236}">
                <a16:creationId xmlns:a16="http://schemas.microsoft.com/office/drawing/2014/main" id="{056A0A3A-1541-5EC0-5370-02DA282ABDDE}"/>
              </a:ext>
            </a:extLst>
          </p:cNvPr>
          <p:cNvSpPr txBox="1"/>
          <p:nvPr/>
        </p:nvSpPr>
        <p:spPr>
          <a:xfrm>
            <a:off x="2209800" y="1864459"/>
            <a:ext cx="15082325" cy="6555641"/>
          </a:xfrm>
          <a:prstGeom prst="rect">
            <a:avLst/>
          </a:prstGeom>
          <a:noFill/>
        </p:spPr>
        <p:txBody>
          <a:bodyPr wrap="square" rtlCol="0">
            <a:spAutoFit/>
          </a:bodyPr>
          <a:lstStyle/>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To design and develop a web-based campus event management system. </a:t>
            </a:r>
          </a:p>
          <a:p>
            <a:pPr marL="457200" indent="-457200" algn="just">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To implement a centralized platform for event creation, registration, and management.</a:t>
            </a:r>
          </a:p>
          <a:p>
            <a:pPr algn="just"/>
            <a:r>
              <a:rPr lang="en-US" sz="2800" dirty="0">
                <a:latin typeface="Times New Roman" panose="02020603050405020304" pitchFamily="18" charset="0"/>
                <a:cs typeface="Times New Roman" panose="02020603050405020304" pitchFamily="18" charset="0"/>
              </a:rPr>
              <a:t> </a:t>
            </a: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To improve communication and accessibility of event information for students.</a:t>
            </a:r>
          </a:p>
          <a:p>
            <a:pPr algn="just"/>
            <a:r>
              <a:rPr lang="en-US" sz="2800" dirty="0">
                <a:latin typeface="Times New Roman" panose="02020603050405020304" pitchFamily="18" charset="0"/>
                <a:cs typeface="Times New Roman" panose="02020603050405020304" pitchFamily="18" charset="0"/>
              </a:rPr>
              <a:t> </a:t>
            </a: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To enhance data management and reduce manual effort in handling campus events. </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3" name="Group 13"/>
          <p:cNvGrpSpPr/>
          <p:nvPr/>
        </p:nvGrpSpPr>
        <p:grpSpPr>
          <a:xfrm>
            <a:off x="709357" y="3983373"/>
            <a:ext cx="992463" cy="992463"/>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15" name="TextBox 15"/>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4</a:t>
              </a:r>
            </a:p>
          </p:txBody>
        </p:sp>
      </p:grpSp>
      <p:grpSp>
        <p:nvGrpSpPr>
          <p:cNvPr id="16" name="Group 16"/>
          <p:cNvGrpSpPr/>
          <p:nvPr/>
        </p:nvGrpSpPr>
        <p:grpSpPr>
          <a:xfrm>
            <a:off x="951509" y="3315742"/>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9" name="Group 19"/>
          <p:cNvGrpSpPr/>
          <p:nvPr/>
        </p:nvGrpSpPr>
        <p:grpSpPr>
          <a:xfrm>
            <a:off x="951509" y="1982349"/>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2" name="Group 22"/>
          <p:cNvGrpSpPr/>
          <p:nvPr/>
        </p:nvGrpSpPr>
        <p:grpSpPr>
          <a:xfrm>
            <a:off x="951509" y="5094059"/>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5" name="Group 25"/>
          <p:cNvGrpSpPr/>
          <p:nvPr/>
        </p:nvGrpSpPr>
        <p:grpSpPr>
          <a:xfrm>
            <a:off x="951509" y="264811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8" name="Group 28"/>
          <p:cNvGrpSpPr/>
          <p:nvPr/>
        </p:nvGrpSpPr>
        <p:grpSpPr>
          <a:xfrm>
            <a:off x="951509" y="6425585"/>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51509" y="575982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4" name="Group 34"/>
          <p:cNvGrpSpPr/>
          <p:nvPr/>
        </p:nvGrpSpPr>
        <p:grpSpPr>
          <a:xfrm>
            <a:off x="951509" y="7093216"/>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7" name="Group 37"/>
          <p:cNvGrpSpPr/>
          <p:nvPr/>
        </p:nvGrpSpPr>
        <p:grpSpPr>
          <a:xfrm>
            <a:off x="951509" y="776084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5" name="Freeform 10">
            <a:extLst>
              <a:ext uri="{FF2B5EF4-FFF2-40B4-BE49-F238E27FC236}">
                <a16:creationId xmlns:a16="http://schemas.microsoft.com/office/drawing/2014/main" id="{D5D1FD99-C9A7-927E-AD67-E70F11DBAAA2}"/>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txBody>
          <a:bodyPr/>
          <a:lstStyle/>
          <a:p>
            <a:endParaRPr lang="en-US"/>
          </a:p>
        </p:txBody>
      </p:sp>
      <p:sp>
        <p:nvSpPr>
          <p:cNvPr id="46" name="TextBox 45">
            <a:extLst>
              <a:ext uri="{FF2B5EF4-FFF2-40B4-BE49-F238E27FC236}">
                <a16:creationId xmlns:a16="http://schemas.microsoft.com/office/drawing/2014/main" id="{E7218D14-8F44-8040-8BFD-49A59591F527}"/>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E8F19716-1653-9AE0-442E-B3829A585B46}"/>
              </a:ext>
            </a:extLst>
          </p:cNvPr>
          <p:cNvSpPr txBox="1"/>
          <p:nvPr/>
        </p:nvSpPr>
        <p:spPr>
          <a:xfrm>
            <a:off x="2069724" y="1861861"/>
            <a:ext cx="15082325" cy="5693866"/>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
        <p:nvSpPr>
          <p:cNvPr id="6" name="TextBox 5">
            <a:extLst>
              <a:ext uri="{FF2B5EF4-FFF2-40B4-BE49-F238E27FC236}">
                <a16:creationId xmlns:a16="http://schemas.microsoft.com/office/drawing/2014/main" id="{599EC198-7920-2291-6A21-B20137D8EAFD}"/>
              </a:ext>
            </a:extLst>
          </p:cNvPr>
          <p:cNvSpPr txBox="1"/>
          <p:nvPr/>
        </p:nvSpPr>
        <p:spPr>
          <a:xfrm>
            <a:off x="2573955" y="1741463"/>
            <a:ext cx="14578093" cy="6986528"/>
          </a:xfrm>
          <a:prstGeom prst="rect">
            <a:avLst/>
          </a:prstGeom>
          <a:noFill/>
        </p:spPr>
        <p:txBody>
          <a:bodyPr wrap="square" rtlCol="0">
            <a:spAutoFit/>
          </a:bodyPr>
          <a:lstStyle/>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The proposed system is a web-based application designed to manage campus events efficiently. </a:t>
            </a:r>
          </a:p>
          <a:p>
            <a:pPr marL="457200" indent="-457200" algn="just">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It provides a centralized platform for students and administrators to interact. </a:t>
            </a:r>
          </a:p>
          <a:p>
            <a:pPr marL="457200" indent="-457200" algn="just">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Students can view upcoming events, register online, and track their participation. </a:t>
            </a:r>
          </a:p>
          <a:p>
            <a:pPr marL="457200" indent="-457200" algn="just">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Administrators can create, update, and delete event details through a secure interface. </a:t>
            </a:r>
          </a:p>
          <a:p>
            <a:pPr marL="457200" indent="-457200" algn="just">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The system automates event management, reducing manual effort and errors. </a:t>
            </a:r>
          </a:p>
          <a:p>
            <a:pPr marL="457200" indent="-457200" algn="just">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It ensures real-time updates and easy access to event information. </a:t>
            </a:r>
          </a:p>
          <a:p>
            <a:pPr marL="457200" indent="-457200" algn="just">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Data is stored and managed securely using a database system. </a:t>
            </a:r>
          </a:p>
          <a:p>
            <a:pPr marL="457200" indent="-457200" algn="just">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Overall, it improves efficiency, organization, and user experience compared to traditional methods.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5" name="Group 5"/>
          <p:cNvGrpSpPr/>
          <p:nvPr/>
        </p:nvGrpSpPr>
        <p:grpSpPr>
          <a:xfrm>
            <a:off x="709357" y="4655766"/>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5</a:t>
              </a:r>
            </a:p>
          </p:txBody>
        </p:sp>
      </p:grpSp>
      <p:grpSp>
        <p:nvGrpSpPr>
          <p:cNvPr id="8" name="Group 8"/>
          <p:cNvGrpSpPr/>
          <p:nvPr/>
        </p:nvGrpSpPr>
        <p:grpSpPr>
          <a:xfrm>
            <a:off x="951509" y="3320505"/>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p:cNvGrpSpPr/>
          <p:nvPr/>
        </p:nvGrpSpPr>
        <p:grpSpPr>
          <a:xfrm>
            <a:off x="951509" y="1987111"/>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p:cNvGrpSpPr/>
          <p:nvPr/>
        </p:nvGrpSpPr>
        <p:grpSpPr>
          <a:xfrm>
            <a:off x="951509" y="3988135"/>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2652874"/>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p:cNvGrpSpPr/>
          <p:nvPr/>
        </p:nvGrpSpPr>
        <p:grpSpPr>
          <a:xfrm>
            <a:off x="951509" y="6430348"/>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3" name="Group 23"/>
          <p:cNvGrpSpPr/>
          <p:nvPr/>
        </p:nvGrpSpPr>
        <p:grpSpPr>
          <a:xfrm>
            <a:off x="951509" y="5764584"/>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6" name="Group 26"/>
          <p:cNvGrpSpPr/>
          <p:nvPr/>
        </p:nvGrpSpPr>
        <p:grpSpPr>
          <a:xfrm>
            <a:off x="951509" y="7088453"/>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29" name="Group 29"/>
          <p:cNvGrpSpPr/>
          <p:nvPr/>
        </p:nvGrpSpPr>
        <p:grpSpPr>
          <a:xfrm>
            <a:off x="951509" y="7756083"/>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7" name="Group 37"/>
          <p:cNvGrpSpPr/>
          <p:nvPr/>
        </p:nvGrpSpPr>
        <p:grpSpPr>
          <a:xfrm>
            <a:off x="11762088" y="-9632634"/>
            <a:ext cx="10994424" cy="10994424"/>
            <a:chOff x="0" y="0"/>
            <a:chExt cx="812800" cy="812800"/>
          </a:xfrm>
        </p:grpSpPr>
        <p:sp>
          <p:nvSpPr>
            <p:cNvPr id="38"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US"/>
            </a:p>
          </p:txBody>
        </p:sp>
        <p:sp>
          <p:nvSpPr>
            <p:cNvPr id="39" name="TextBox 39"/>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1" name="Freeform 10">
            <a:extLst>
              <a:ext uri="{FF2B5EF4-FFF2-40B4-BE49-F238E27FC236}">
                <a16:creationId xmlns:a16="http://schemas.microsoft.com/office/drawing/2014/main" id="{01BC0C31-7FCD-94EE-8B85-19FBC227565C}"/>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txBody>
          <a:bodyPr/>
          <a:lstStyle/>
          <a:p>
            <a:endParaRPr lang="en-US"/>
          </a:p>
        </p:txBody>
      </p:sp>
      <p:sp>
        <p:nvSpPr>
          <p:cNvPr id="42" name="TextBox 41">
            <a:extLst>
              <a:ext uri="{FF2B5EF4-FFF2-40B4-BE49-F238E27FC236}">
                <a16:creationId xmlns:a16="http://schemas.microsoft.com/office/drawing/2014/main" id="{A4B3B85F-0C7B-16B9-6D50-94A4DFD2D192}"/>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 ARCHITECTURE</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3" name="TextBox 42">
            <a:extLst>
              <a:ext uri="{FF2B5EF4-FFF2-40B4-BE49-F238E27FC236}">
                <a16:creationId xmlns:a16="http://schemas.microsoft.com/office/drawing/2014/main" id="{25F9D4B0-38FE-DBA4-164D-1745B68379A5}"/>
              </a:ext>
            </a:extLst>
          </p:cNvPr>
          <p:cNvSpPr txBox="1"/>
          <p:nvPr/>
        </p:nvSpPr>
        <p:spPr>
          <a:xfrm>
            <a:off x="2164060" y="1686924"/>
            <a:ext cx="15082325" cy="14157722"/>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Input</a:t>
            </a:r>
          </a:p>
          <a:p>
            <a:pPr marL="457200" indent="-4572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Users (students/admins) interact through web pages.</a:t>
            </a:r>
          </a:p>
          <a:p>
            <a:pPr marL="457200" indent="-4572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Input includes event details, registration forms, login data </a:t>
            </a:r>
          </a:p>
          <a:p>
            <a:r>
              <a:rPr lang="en-US" sz="2400" b="1" dirty="0">
                <a:latin typeface="Times New Roman" panose="02020603050405020304" pitchFamily="18" charset="0"/>
                <a:cs typeface="Times New Roman" panose="02020603050405020304" pitchFamily="18" charset="0"/>
              </a:rPr>
              <a:t>Processing</a:t>
            </a:r>
          </a:p>
          <a:p>
            <a:pPr marL="457200" indent="-4572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Controller receives user requests. </a:t>
            </a:r>
          </a:p>
          <a:p>
            <a:pPr marL="457200" indent="-4572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Service layer processes business logic. </a:t>
            </a:r>
          </a:p>
          <a:p>
            <a:pPr marL="457200" indent="-4572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Example: validating data, handling registrations.</a:t>
            </a:r>
          </a:p>
          <a:p>
            <a:r>
              <a:rPr lang="en-US" sz="2400" b="1" dirty="0">
                <a:latin typeface="Times New Roman" panose="02020603050405020304" pitchFamily="18" charset="0"/>
                <a:cs typeface="Times New Roman" panose="02020603050405020304" pitchFamily="18" charset="0"/>
              </a:rPr>
              <a:t>Database</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Data is stored in MySQL database.</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Tables like: </a:t>
            </a:r>
          </a:p>
          <a:p>
            <a:pPr marL="800100" lvl="1"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Event </a:t>
            </a:r>
          </a:p>
          <a:p>
            <a:pPr marL="800100" lvl="1"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Registration </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Managed using Spring Data JPA.</a:t>
            </a:r>
          </a:p>
          <a:p>
            <a:r>
              <a:rPr lang="en-US" sz="2400" b="1" dirty="0">
                <a:latin typeface="Times New Roman" panose="02020603050405020304" pitchFamily="18" charset="0"/>
                <a:cs typeface="Times New Roman" panose="02020603050405020304" pitchFamily="18" charset="0"/>
              </a:rPr>
              <a:t>Output</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Processed data is displayed using Thymeleaf pages. </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Users can see: </a:t>
            </a:r>
          </a:p>
          <a:p>
            <a:pPr marL="800100" lvl="1"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Event list. </a:t>
            </a:r>
          </a:p>
          <a:p>
            <a:pPr marL="800100" lvl="1"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Registration confirmation. </a:t>
            </a:r>
          </a:p>
          <a:p>
            <a:pPr marL="800100" lvl="1"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Updated event details.</a:t>
            </a:r>
          </a:p>
          <a:p>
            <a:r>
              <a:rPr lang="en-US" sz="2000" dirty="0">
                <a:latin typeface="Times New Roman" panose="02020603050405020304" pitchFamily="18" charset="0"/>
                <a:cs typeface="Times New Roman" panose="02020603050405020304" pitchFamily="18" charset="0"/>
              </a:rPr>
              <a:t> </a:t>
            </a:r>
          </a:p>
          <a:p>
            <a:endParaRPr lang="en-US"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 </a:t>
            </a:r>
          </a:p>
          <a:p>
            <a:endParaRPr lang="en-US" sz="2800" dirty="0"/>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a:extLst>
              <a:ext uri="{FF2B5EF4-FFF2-40B4-BE49-F238E27FC236}">
                <a16:creationId xmlns:a16="http://schemas.microsoft.com/office/drawing/2014/main" id="{26F04B43-6248-8EAF-3D9A-B1C9B4DCCE2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839201" y="3146802"/>
            <a:ext cx="8869424" cy="588289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4" name="Group 14"/>
          <p:cNvGrpSpPr/>
          <p:nvPr/>
        </p:nvGrpSpPr>
        <p:grpSpPr>
          <a:xfrm>
            <a:off x="735588" y="5318634"/>
            <a:ext cx="992463" cy="992463"/>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16" name="TextBox 16"/>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6</a:t>
              </a:r>
            </a:p>
          </p:txBody>
        </p:sp>
      </p:grpSp>
      <p:grpSp>
        <p:nvGrpSpPr>
          <p:cNvPr id="17" name="Group 17"/>
          <p:cNvGrpSpPr/>
          <p:nvPr/>
        </p:nvGrpSpPr>
        <p:grpSpPr>
          <a:xfrm>
            <a:off x="977741" y="3315742"/>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0" name="Group 20"/>
          <p:cNvGrpSpPr/>
          <p:nvPr/>
        </p:nvGrpSpPr>
        <p:grpSpPr>
          <a:xfrm>
            <a:off x="977741" y="198234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3" name="Group 23"/>
          <p:cNvGrpSpPr/>
          <p:nvPr/>
        </p:nvGrpSpPr>
        <p:grpSpPr>
          <a:xfrm>
            <a:off x="977741" y="398337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26" name="Group 26"/>
          <p:cNvGrpSpPr/>
          <p:nvPr/>
        </p:nvGrpSpPr>
        <p:grpSpPr>
          <a:xfrm>
            <a:off x="977741" y="2648112"/>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9" name="Group 29"/>
          <p:cNvGrpSpPr/>
          <p:nvPr/>
        </p:nvGrpSpPr>
        <p:grpSpPr>
          <a:xfrm>
            <a:off x="977741" y="6425585"/>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2" name="Group 32"/>
          <p:cNvGrpSpPr/>
          <p:nvPr/>
        </p:nvGrpSpPr>
        <p:grpSpPr>
          <a:xfrm>
            <a:off x="977741" y="4651003"/>
            <a:ext cx="508158" cy="543805"/>
            <a:chOff x="0" y="0"/>
            <a:chExt cx="812800" cy="869819"/>
          </a:xfrm>
        </p:grpSpPr>
        <p:sp>
          <p:nvSpPr>
            <p:cNvPr id="33" name="Freeform 3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4" name="TextBox 3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37" name="Group 37"/>
          <p:cNvGrpSpPr/>
          <p:nvPr/>
        </p:nvGrpSpPr>
        <p:grpSpPr>
          <a:xfrm>
            <a:off x="977741" y="709321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0" name="Group 40"/>
          <p:cNvGrpSpPr/>
          <p:nvPr/>
        </p:nvGrpSpPr>
        <p:grpSpPr>
          <a:xfrm>
            <a:off x="977741" y="776084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663A130-069F-2D83-78E7-4DA0FE7AAC6E}"/>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txBody>
          <a:bodyPr/>
          <a:lstStyle/>
          <a:p>
            <a:endParaRPr lang="en-US"/>
          </a:p>
        </p:txBody>
      </p:sp>
      <p:sp>
        <p:nvSpPr>
          <p:cNvPr id="47" name="TextBox 46">
            <a:extLst>
              <a:ext uri="{FF2B5EF4-FFF2-40B4-BE49-F238E27FC236}">
                <a16:creationId xmlns:a16="http://schemas.microsoft.com/office/drawing/2014/main" id="{1B156733-A733-69AA-7523-59650E125994}"/>
              </a:ext>
            </a:extLst>
          </p:cNvPr>
          <p:cNvSpPr txBox="1"/>
          <p:nvPr/>
        </p:nvSpPr>
        <p:spPr>
          <a:xfrm>
            <a:off x="190500" y="315938"/>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WORKFLOW</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0" name="TextBox 49">
            <a:extLst>
              <a:ext uri="{FF2B5EF4-FFF2-40B4-BE49-F238E27FC236}">
                <a16:creationId xmlns:a16="http://schemas.microsoft.com/office/drawing/2014/main" id="{D04F3B99-A5D2-54DC-51CD-4E86A99D3EA2}"/>
              </a:ext>
            </a:extLst>
          </p:cNvPr>
          <p:cNvSpPr txBox="1"/>
          <p:nvPr/>
        </p:nvSpPr>
        <p:spPr>
          <a:xfrm>
            <a:off x="2209800" y="1638300"/>
            <a:ext cx="15082325" cy="4832092"/>
          </a:xfrm>
          <a:prstGeom prst="rect">
            <a:avLst/>
          </a:prstGeom>
          <a:noFill/>
        </p:spPr>
        <p:txBody>
          <a:bodyPr wrap="square" rtlCol="0">
            <a:spAutoFit/>
          </a:bodyPr>
          <a:lstStyle/>
          <a:p>
            <a:endParaRPr lang="en-US" sz="2800" dirty="0"/>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a:extLst>
              <a:ext uri="{FF2B5EF4-FFF2-40B4-BE49-F238E27FC236}">
                <a16:creationId xmlns:a16="http://schemas.microsoft.com/office/drawing/2014/main" id="{B4339DB1-8A26-2612-A89C-20D33CFA53A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971799" y="1741463"/>
            <a:ext cx="13341621" cy="736443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9" name="Group 19"/>
          <p:cNvGrpSpPr/>
          <p:nvPr/>
        </p:nvGrpSpPr>
        <p:grpSpPr>
          <a:xfrm>
            <a:off x="735588" y="5976927"/>
            <a:ext cx="992463" cy="992463"/>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21" name="TextBox 2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7</a:t>
              </a:r>
            </a:p>
          </p:txBody>
        </p:sp>
      </p:grpSp>
      <p:grpSp>
        <p:nvGrpSpPr>
          <p:cNvPr id="22" name="Group 22"/>
          <p:cNvGrpSpPr/>
          <p:nvPr/>
        </p:nvGrpSpPr>
        <p:grpSpPr>
          <a:xfrm>
            <a:off x="977741" y="3315742"/>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5" name="Group 25"/>
          <p:cNvGrpSpPr/>
          <p:nvPr/>
        </p:nvGrpSpPr>
        <p:grpSpPr>
          <a:xfrm>
            <a:off x="977741" y="1982349"/>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8" name="Group 28"/>
          <p:cNvGrpSpPr/>
          <p:nvPr/>
        </p:nvGrpSpPr>
        <p:grpSpPr>
          <a:xfrm>
            <a:off x="977741" y="3983373"/>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31" name="Group 31"/>
          <p:cNvGrpSpPr/>
          <p:nvPr/>
        </p:nvGrpSpPr>
        <p:grpSpPr>
          <a:xfrm>
            <a:off x="977741" y="264811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34" name="Group 34"/>
          <p:cNvGrpSpPr/>
          <p:nvPr/>
        </p:nvGrpSpPr>
        <p:grpSpPr>
          <a:xfrm>
            <a:off x="977741" y="5318634"/>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7" name="Group 37"/>
          <p:cNvGrpSpPr/>
          <p:nvPr/>
        </p:nvGrpSpPr>
        <p:grpSpPr>
          <a:xfrm>
            <a:off x="977741" y="4651003"/>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40" name="Group 40"/>
          <p:cNvGrpSpPr/>
          <p:nvPr/>
        </p:nvGrpSpPr>
        <p:grpSpPr>
          <a:xfrm>
            <a:off x="977741" y="709321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3" name="Group 43"/>
          <p:cNvGrpSpPr/>
          <p:nvPr/>
        </p:nvGrpSpPr>
        <p:grpSpPr>
          <a:xfrm>
            <a:off x="977741" y="7760846"/>
            <a:ext cx="508158" cy="543805"/>
            <a:chOff x="0" y="0"/>
            <a:chExt cx="812800" cy="869819"/>
          </a:xfrm>
        </p:grpSpPr>
        <p:sp>
          <p:nvSpPr>
            <p:cNvPr id="44" name="Freeform 4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45" name="TextBox 4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07389F6-23D0-83F6-DD02-F20D61DADE76}"/>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txBody>
          <a:bodyPr/>
          <a:lstStyle/>
          <a:p>
            <a:endParaRPr lang="en-US"/>
          </a:p>
        </p:txBody>
      </p:sp>
      <p:sp>
        <p:nvSpPr>
          <p:cNvPr id="47" name="TextBox 46">
            <a:extLst>
              <a:ext uri="{FF2B5EF4-FFF2-40B4-BE49-F238E27FC236}">
                <a16:creationId xmlns:a16="http://schemas.microsoft.com/office/drawing/2014/main" id="{E4ED097B-FECF-66E6-2A98-0F8B4D948FC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TECHNOLOGIES USED</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26E9F5F9-CCF8-6F05-4C01-034C88D7529E}"/>
              </a:ext>
            </a:extLst>
          </p:cNvPr>
          <p:cNvSpPr txBox="1"/>
          <p:nvPr/>
        </p:nvSpPr>
        <p:spPr>
          <a:xfrm>
            <a:off x="2490751" y="1830433"/>
            <a:ext cx="15082325" cy="13449836"/>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Frontend:</a:t>
            </a:r>
            <a:r>
              <a:rPr lang="en-US" sz="2800" dirty="0">
                <a:latin typeface="Times New Roman" panose="02020603050405020304" pitchFamily="18" charset="0"/>
                <a:cs typeface="Times New Roman" panose="02020603050405020304" pitchFamily="18" charset="0"/>
              </a:rPr>
              <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HTML5, CSS3, Thymeleaf, JavaScript</a:t>
            </a:r>
          </a:p>
          <a:p>
            <a:endParaRPr lang="en-US" sz="2800" dirty="0">
              <a:latin typeface="Times New Roman" panose="02020603050405020304" pitchFamily="18" charset="0"/>
              <a:cs typeface="Times New Roman" panose="02020603050405020304" pitchFamily="18" charset="0"/>
            </a:endParaRPr>
          </a:p>
          <a:p>
            <a:r>
              <a:rPr lang="en-US" sz="2800" b="1" dirty="0">
                <a:latin typeface="Times New Roman" panose="02020603050405020304" pitchFamily="18" charset="0"/>
                <a:cs typeface="Times New Roman" panose="02020603050405020304" pitchFamily="18" charset="0"/>
              </a:rPr>
              <a:t>Backend:</a:t>
            </a:r>
            <a:r>
              <a:rPr lang="en-US" sz="2800" dirty="0">
                <a:latin typeface="Times New Roman" panose="02020603050405020304" pitchFamily="18" charset="0"/>
                <a:cs typeface="Times New Roman" panose="02020603050405020304" pitchFamily="18" charset="0"/>
              </a:rPr>
              <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Java, Spring Boot, Spring MVC, Spring Data JPA</a:t>
            </a:r>
          </a:p>
          <a:p>
            <a:endParaRPr lang="en-US" sz="2800" dirty="0">
              <a:latin typeface="Times New Roman" panose="02020603050405020304" pitchFamily="18" charset="0"/>
              <a:cs typeface="Times New Roman" panose="02020603050405020304" pitchFamily="18" charset="0"/>
            </a:endParaRPr>
          </a:p>
          <a:p>
            <a:r>
              <a:rPr lang="en-US" sz="2800" b="1" dirty="0">
                <a:latin typeface="Times New Roman" panose="02020603050405020304" pitchFamily="18" charset="0"/>
                <a:cs typeface="Times New Roman" panose="02020603050405020304" pitchFamily="18" charset="0"/>
              </a:rPr>
              <a:t>Database:</a:t>
            </a:r>
            <a:r>
              <a:rPr lang="en-US" sz="2800" dirty="0">
                <a:latin typeface="Times New Roman" panose="02020603050405020304" pitchFamily="18" charset="0"/>
                <a:cs typeface="Times New Roman" panose="02020603050405020304" pitchFamily="18" charset="0"/>
              </a:rPr>
              <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MySQL</a:t>
            </a:r>
          </a:p>
          <a:p>
            <a:r>
              <a:rPr lang="en-US" sz="2800" b="1" dirty="0">
                <a:latin typeface="Times New Roman" panose="02020603050405020304" pitchFamily="18" charset="0"/>
                <a:cs typeface="Times New Roman" panose="02020603050405020304" pitchFamily="18" charset="0"/>
              </a:rPr>
              <a:t>Tools:</a:t>
            </a:r>
            <a:r>
              <a:rPr lang="en-US" sz="2800" dirty="0">
                <a:latin typeface="Times New Roman" panose="02020603050405020304" pitchFamily="18" charset="0"/>
                <a:cs typeface="Times New Roman" panose="02020603050405020304" pitchFamily="18" charset="0"/>
              </a:rPr>
              <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VS Code / Eclipse, Maven, Postman, Git</a:t>
            </a:r>
          </a:p>
          <a:p>
            <a:endParaRPr lang="en-US" sz="2800" dirty="0">
              <a:latin typeface="Times New Roman" panose="02020603050405020304" pitchFamily="18" charset="0"/>
              <a:cs typeface="Times New Roman" panose="02020603050405020304" pitchFamily="18" charset="0"/>
            </a:endParaRPr>
          </a:p>
          <a:p>
            <a:r>
              <a:rPr lang="en-US" sz="2800" b="1" dirty="0">
                <a:latin typeface="Times New Roman" panose="02020603050405020304" pitchFamily="18" charset="0"/>
                <a:cs typeface="Times New Roman" panose="02020603050405020304" pitchFamily="18" charset="0"/>
              </a:rPr>
              <a:t>Hardware/Software Requirements:</a:t>
            </a:r>
            <a:endParaRPr lang="en-US" sz="28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4GB RAM (minimum) </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Dual-core processor </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Java JDK 17+ </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MySQL Server </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Web Browser (Chrome/Edge)</a:t>
            </a:r>
          </a:p>
          <a:p>
            <a:pPr marL="457200" indent="-457200">
              <a:buFont typeface="Arial" panose="020B0604020202020204" pitchFamily="34" charset="0"/>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8</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txBody>
          <a:bodyPr/>
          <a:lstStyle/>
          <a:p>
            <a:endParaRPr lang="en-US"/>
          </a:p>
        </p:txBody>
      </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US"/>
            </a:p>
          </p:txBody>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A1BCE7C-890E-A01E-691E-1D3D07CF6333}"/>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MODULE DESCRIPTION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304C197-EAC7-7A26-FAED-ED7302DBEC6E}"/>
              </a:ext>
            </a:extLst>
          </p:cNvPr>
          <p:cNvSpPr txBox="1"/>
          <p:nvPr/>
        </p:nvSpPr>
        <p:spPr>
          <a:xfrm>
            <a:off x="2209800" y="1638300"/>
            <a:ext cx="15082325" cy="8279190"/>
          </a:xfrm>
          <a:prstGeom prst="rect">
            <a:avLst/>
          </a:prstGeom>
          <a:noFill/>
        </p:spPr>
        <p:txBody>
          <a:bodyPr wrap="square" rtlCol="0">
            <a:spAutoFit/>
          </a:bodyPr>
          <a:lstStyle/>
          <a:p>
            <a:endParaRPr lang="en-IN" sz="2800" b="1" dirty="0"/>
          </a:p>
          <a:p>
            <a:r>
              <a:rPr lang="en-US" sz="2800" b="1" dirty="0">
                <a:latin typeface="Times New Roman" panose="02020603050405020304" pitchFamily="18" charset="0"/>
                <a:cs typeface="Times New Roman" panose="02020603050405020304" pitchFamily="18" charset="0"/>
              </a:rPr>
              <a:t>Module 1: User Management</a:t>
            </a:r>
          </a:p>
          <a:p>
            <a:r>
              <a:rPr lang="en-US" sz="2800" dirty="0">
                <a:latin typeface="Times New Roman" panose="02020603050405020304" pitchFamily="18" charset="0"/>
                <a:cs typeface="Times New Roman" panose="02020603050405020304" pitchFamily="18" charset="0"/>
              </a:rPr>
              <a:t>Handles student and admin login with authentication and role-based access control.</a:t>
            </a:r>
          </a:p>
          <a:p>
            <a:endParaRPr lang="en-IN" sz="2800" dirty="0">
              <a:latin typeface="Times New Roman" panose="02020603050405020304" pitchFamily="18" charset="0"/>
              <a:cs typeface="Times New Roman" panose="02020603050405020304" pitchFamily="18" charset="0"/>
            </a:endParaRPr>
          </a:p>
          <a:p>
            <a:r>
              <a:rPr lang="en-US" sz="2800" b="1" dirty="0">
                <a:latin typeface="Times New Roman" panose="02020603050405020304" pitchFamily="18" charset="0"/>
                <a:cs typeface="Times New Roman" panose="02020603050405020304" pitchFamily="18" charset="0"/>
              </a:rPr>
              <a:t>Module 2: Event Management</a:t>
            </a:r>
          </a:p>
          <a:p>
            <a:r>
              <a:rPr lang="en-US" sz="2800" dirty="0">
                <a:latin typeface="Times New Roman" panose="02020603050405020304" pitchFamily="18" charset="0"/>
                <a:cs typeface="Times New Roman" panose="02020603050405020304" pitchFamily="18" charset="0"/>
              </a:rPr>
              <a:t>Allows admin to create, update, delete, and manage campus events efficiently.</a:t>
            </a:r>
          </a:p>
          <a:p>
            <a:endParaRPr lang="en-IN" sz="2800" dirty="0">
              <a:latin typeface="Times New Roman" panose="02020603050405020304" pitchFamily="18" charset="0"/>
              <a:cs typeface="Times New Roman" panose="02020603050405020304" pitchFamily="18" charset="0"/>
            </a:endParaRPr>
          </a:p>
          <a:p>
            <a:r>
              <a:rPr lang="en-US" sz="2800" b="1" dirty="0">
                <a:latin typeface="Times New Roman" panose="02020603050405020304" pitchFamily="18" charset="0"/>
                <a:cs typeface="Times New Roman" panose="02020603050405020304" pitchFamily="18" charset="0"/>
              </a:rPr>
              <a:t>Module 3: Registration Management</a:t>
            </a:r>
          </a:p>
          <a:p>
            <a:r>
              <a:rPr lang="en-US" sz="2800" dirty="0">
                <a:latin typeface="Times New Roman" panose="02020603050405020304" pitchFamily="18" charset="0"/>
                <a:cs typeface="Times New Roman" panose="02020603050405020304" pitchFamily="18" charset="0"/>
              </a:rPr>
              <a:t>Enables students to register for events and view their registration details.</a:t>
            </a:r>
          </a:p>
          <a:p>
            <a:endParaRPr lang="en-IN" sz="2800" dirty="0">
              <a:latin typeface="Times New Roman" panose="02020603050405020304" pitchFamily="18" charset="0"/>
              <a:cs typeface="Times New Roman" panose="02020603050405020304" pitchFamily="18" charset="0"/>
            </a:endParaRPr>
          </a:p>
          <a:p>
            <a:r>
              <a:rPr lang="en-US" sz="2800" b="1" dirty="0">
                <a:latin typeface="Times New Roman" panose="02020603050405020304" pitchFamily="18" charset="0"/>
                <a:cs typeface="Times New Roman" panose="02020603050405020304" pitchFamily="18" charset="0"/>
              </a:rPr>
              <a:t>Module 4: Data Management &amp; Reporting</a:t>
            </a:r>
          </a:p>
          <a:p>
            <a:r>
              <a:rPr lang="en-US" sz="2800" dirty="0">
                <a:latin typeface="Times New Roman" panose="02020603050405020304" pitchFamily="18" charset="0"/>
                <a:cs typeface="Times New Roman" panose="02020603050405020304" pitchFamily="18" charset="0"/>
              </a:rPr>
              <a:t>Manages event and registration data, and provides basic statistics and reports.</a:t>
            </a:r>
          </a:p>
          <a:p>
            <a:endParaRPr lang="en-IN" sz="2800" dirty="0"/>
          </a:p>
          <a:p>
            <a:endParaRPr lang="en-IN" sz="2800" dirty="0"/>
          </a:p>
          <a:p>
            <a:endParaRPr lang="en-IN" sz="2800" dirty="0"/>
          </a:p>
          <a:p>
            <a:endParaRPr lang="en-IN" sz="2800" dirty="0"/>
          </a:p>
          <a:p>
            <a:endParaRPr lang="en-IN" sz="2800" dirty="0"/>
          </a:p>
          <a:p>
            <a:endParaRPr lang="en-IN" sz="2800" dirty="0"/>
          </a:p>
          <a:p>
            <a:endParaRPr lang="en-IN" sz="2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E0BFBA1B-7EE7-47B6-41F3-C4B61A979F6F}"/>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D8CD5C70-566B-9213-9F31-546BB621CCAF}"/>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7EBAE7EB-82E8-3AF5-3C43-EA7688F7325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9" name="TextBox 9">
              <a:extLst>
                <a:ext uri="{FF2B5EF4-FFF2-40B4-BE49-F238E27FC236}">
                  <a16:creationId xmlns:a16="http://schemas.microsoft.com/office/drawing/2014/main" id="{5294143A-C171-B89D-02DF-136CB32B43C9}"/>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t>
              </a:r>
            </a:p>
          </p:txBody>
        </p:sp>
      </p:grpSp>
      <p:grpSp>
        <p:nvGrpSpPr>
          <p:cNvPr id="10" name="Group 10">
            <a:extLst>
              <a:ext uri="{FF2B5EF4-FFF2-40B4-BE49-F238E27FC236}">
                <a16:creationId xmlns:a16="http://schemas.microsoft.com/office/drawing/2014/main" id="{811A371D-2A07-AABC-E66C-143D37E0F12C}"/>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2F7BDC7D-6911-7D85-E73A-2061DE32440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2" name="TextBox 12">
              <a:extLst>
                <a:ext uri="{FF2B5EF4-FFF2-40B4-BE49-F238E27FC236}">
                  <a16:creationId xmlns:a16="http://schemas.microsoft.com/office/drawing/2014/main" id="{6DEA2241-E6A3-8051-F424-21070A5DF29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4DD3D6A9-1C97-9943-C984-B50356BAE3FF}"/>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6BB1489C-F4F8-D62E-3AD9-3CAA028A426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5" name="TextBox 15">
              <a:extLst>
                <a:ext uri="{FF2B5EF4-FFF2-40B4-BE49-F238E27FC236}">
                  <a16:creationId xmlns:a16="http://schemas.microsoft.com/office/drawing/2014/main" id="{A4A64A6E-EA7C-DFF0-C280-5041CD8B135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BE5FF856-5043-C428-B45A-4C00BF9D3418}"/>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CFC7AF72-B76A-8AD8-7E70-BDE8837D662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8" name="TextBox 18">
              <a:extLst>
                <a:ext uri="{FF2B5EF4-FFF2-40B4-BE49-F238E27FC236}">
                  <a16:creationId xmlns:a16="http://schemas.microsoft.com/office/drawing/2014/main" id="{F6C277EF-EDEF-0F79-B4B2-AB1B3E58301A}"/>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A32CD2C6-1D06-729E-1157-B2EAAEA172A4}"/>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A222D7EA-F7CE-B4F5-4D06-02860C5AC3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1" name="TextBox 21">
              <a:extLst>
                <a:ext uri="{FF2B5EF4-FFF2-40B4-BE49-F238E27FC236}">
                  <a16:creationId xmlns:a16="http://schemas.microsoft.com/office/drawing/2014/main" id="{17F695A3-7B3D-00FE-26D6-E53B473BCF1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5A8D3527-DD17-232E-3ECB-BDBFC0FF3DE7}"/>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1C3EBC87-5F86-657B-5C0D-7DFFB3C4281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4" name="TextBox 24">
              <a:extLst>
                <a:ext uri="{FF2B5EF4-FFF2-40B4-BE49-F238E27FC236}">
                  <a16:creationId xmlns:a16="http://schemas.microsoft.com/office/drawing/2014/main" id="{5638183B-03CC-91E5-1C67-EAD126FB6DA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8C4C8B82-0B52-9912-DBAF-71546B2F401E}"/>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371F41C0-C399-6E94-B393-623F6ED78C3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7" name="TextBox 27">
              <a:extLst>
                <a:ext uri="{FF2B5EF4-FFF2-40B4-BE49-F238E27FC236}">
                  <a16:creationId xmlns:a16="http://schemas.microsoft.com/office/drawing/2014/main" id="{05375A05-CD15-FECF-CF37-72BD8B495C3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FFA9D0CA-D989-1DF0-9CD9-7BB1BF37D00D}"/>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6D72D40E-C3C8-1774-56F7-396EA1F5463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0" name="TextBox 30">
              <a:extLst>
                <a:ext uri="{FF2B5EF4-FFF2-40B4-BE49-F238E27FC236}">
                  <a16:creationId xmlns:a16="http://schemas.microsoft.com/office/drawing/2014/main" id="{2A94558C-EEEF-6159-C648-7ED1F2545B1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A8A0868D-7450-B2DC-5A6A-A607E39122E3}"/>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27C0AD0-E7DC-50B1-90B8-A6B2DA72DDA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3" name="TextBox 33">
              <a:extLst>
                <a:ext uri="{FF2B5EF4-FFF2-40B4-BE49-F238E27FC236}">
                  <a16:creationId xmlns:a16="http://schemas.microsoft.com/office/drawing/2014/main" id="{9B60539C-7696-ACA6-9070-BC481578187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0A2A8C1-A254-99B6-B7B0-C5A8A5BB008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txBody>
          <a:bodyPr/>
          <a:lstStyle/>
          <a:p>
            <a:endParaRPr lang="en-US"/>
          </a:p>
        </p:txBody>
      </p:sp>
      <p:grpSp>
        <p:nvGrpSpPr>
          <p:cNvPr id="35" name="Group 35">
            <a:extLst>
              <a:ext uri="{FF2B5EF4-FFF2-40B4-BE49-F238E27FC236}">
                <a16:creationId xmlns:a16="http://schemas.microsoft.com/office/drawing/2014/main" id="{B814A5FC-F17C-8D1A-04C8-1ED6A2AE0E6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2EC11913-1FC3-79C0-FB94-72486D9673F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US"/>
            </a:p>
          </p:txBody>
        </p:sp>
        <p:sp>
          <p:nvSpPr>
            <p:cNvPr id="37" name="TextBox 37">
              <a:extLst>
                <a:ext uri="{FF2B5EF4-FFF2-40B4-BE49-F238E27FC236}">
                  <a16:creationId xmlns:a16="http://schemas.microsoft.com/office/drawing/2014/main" id="{6CB89B22-25E1-321C-5A74-15CF8EBC7CA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35C6402D-9C63-51C1-99A9-4206C05377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EC6A4DA-6D4B-3E6A-CF92-E543DD7AFBF5}"/>
              </a:ext>
            </a:extLst>
          </p:cNvPr>
          <p:cNvSpPr txBox="1"/>
          <p:nvPr/>
        </p:nvSpPr>
        <p:spPr>
          <a:xfrm>
            <a:off x="2209800" y="1638300"/>
            <a:ext cx="15082325" cy="5693866"/>
          </a:xfrm>
          <a:prstGeom prst="rect">
            <a:avLst/>
          </a:prstGeom>
          <a:noFill/>
        </p:spPr>
        <p:txBody>
          <a:bodyPr wrap="square" rtlCol="0">
            <a:spAutoFit/>
          </a:bodyPr>
          <a:lstStyle/>
          <a:p>
            <a:endParaRPr lang="en-US" sz="2800"/>
          </a:p>
          <a:p>
            <a:pPr marL="457200" indent="-457200">
              <a:buFontTx/>
              <a:buChar char="-"/>
            </a:pPr>
            <a:endParaRPr lang="en-US" sz="2800"/>
          </a:p>
          <a:p>
            <a:pPr marL="457200" indent="-457200">
              <a:buFontTx/>
              <a:buChar char="-"/>
            </a:pPr>
            <a:endParaRPr lang="en-US" sz="2800"/>
          </a:p>
          <a:p>
            <a:pPr marL="457200" indent="-457200">
              <a:buFontTx/>
              <a:buChar char="-"/>
            </a:pPr>
            <a:endParaRPr lang="en-US" sz="2800"/>
          </a:p>
          <a:p>
            <a:pPr marL="457200" indent="-457200">
              <a:buFontTx/>
              <a:buChar char="-"/>
            </a:pPr>
            <a:endParaRPr lang="en-US" sz="2800"/>
          </a:p>
          <a:p>
            <a:pPr marL="457200" indent="-457200">
              <a:buFontTx/>
              <a:buChar char="-"/>
            </a:pPr>
            <a:endParaRPr lang="en-US" sz="2800"/>
          </a:p>
          <a:p>
            <a:pPr marL="457200" indent="-457200">
              <a:buFontTx/>
              <a:buChar char="-"/>
            </a:pPr>
            <a:endParaRPr lang="en-US" sz="2800"/>
          </a:p>
          <a:p>
            <a:pPr marL="457200" indent="-457200">
              <a:buFontTx/>
              <a:buChar char="-"/>
            </a:pPr>
            <a:endParaRPr lang="en-US" sz="2800"/>
          </a:p>
          <a:p>
            <a:pPr marL="457200" indent="-457200">
              <a:buFontTx/>
              <a:buChar char="-"/>
            </a:pPr>
            <a:endParaRPr lang="en-US" sz="2800"/>
          </a:p>
          <a:p>
            <a:pPr marL="457200" indent="-457200">
              <a:buFontTx/>
              <a:buChar char="-"/>
            </a:pPr>
            <a:endParaRPr lang="en-US" sz="2800"/>
          </a:p>
          <a:p>
            <a:pPr marL="457200" indent="-457200">
              <a:buFontTx/>
              <a:buChar char="-"/>
            </a:pPr>
            <a:endParaRPr lang="en-US" sz="2800"/>
          </a:p>
          <a:p>
            <a:pPr marL="457200" indent="-457200">
              <a:buFontTx/>
              <a:buChar char="-"/>
            </a:pPr>
            <a:endParaRPr lang="en-US" sz="2800"/>
          </a:p>
          <a:p>
            <a:pPr marL="457200" indent="-457200">
              <a:buFontTx/>
              <a:buChar char="-"/>
            </a:pPr>
            <a:endParaRPr lang="en-IN" sz="2800" dirty="0"/>
          </a:p>
        </p:txBody>
      </p:sp>
      <p:pic>
        <p:nvPicPr>
          <p:cNvPr id="2" name="Picture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709987" y="2628900"/>
            <a:ext cx="10868025" cy="5029200"/>
          </a:xfrm>
          <a:prstGeom prst="rect">
            <a:avLst/>
          </a:prstGeom>
        </p:spPr>
      </p:pic>
    </p:spTree>
    <p:extLst>
      <p:ext uri="{BB962C8B-B14F-4D97-AF65-F5344CB8AC3E}">
        <p14:creationId xmlns:p14="http://schemas.microsoft.com/office/powerpoint/2010/main" val="19981011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B7CF319D-58F2-DF9E-632A-90472F50FA3A}"/>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ADE101F0-A2BF-16E8-7BEC-541911EA9510}"/>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C43B1E5B-104E-DCD5-F042-8DABFE8225A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9" name="TextBox 9">
              <a:extLst>
                <a:ext uri="{FF2B5EF4-FFF2-40B4-BE49-F238E27FC236}">
                  <a16:creationId xmlns:a16="http://schemas.microsoft.com/office/drawing/2014/main" id="{846A8601-B4CB-7C78-2833-947EEC356CD7}"/>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a:t>
              </a:r>
            </a:p>
          </p:txBody>
        </p:sp>
      </p:grpSp>
      <p:grpSp>
        <p:nvGrpSpPr>
          <p:cNvPr id="10" name="Group 10">
            <a:extLst>
              <a:ext uri="{FF2B5EF4-FFF2-40B4-BE49-F238E27FC236}">
                <a16:creationId xmlns:a16="http://schemas.microsoft.com/office/drawing/2014/main" id="{1C63788E-DB35-987D-1A89-4C3F169DF70E}"/>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676646B6-C6D6-F677-3CA9-56BE5CE444A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2" name="TextBox 12">
              <a:extLst>
                <a:ext uri="{FF2B5EF4-FFF2-40B4-BE49-F238E27FC236}">
                  <a16:creationId xmlns:a16="http://schemas.microsoft.com/office/drawing/2014/main" id="{3CDDAA79-D530-F622-0CC8-ECE3E95F952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8227745F-FD1B-7135-E88E-D6B924C5CB24}"/>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79292FA3-A80E-1540-0024-754AADCDB01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5" name="TextBox 15">
              <a:extLst>
                <a:ext uri="{FF2B5EF4-FFF2-40B4-BE49-F238E27FC236}">
                  <a16:creationId xmlns:a16="http://schemas.microsoft.com/office/drawing/2014/main" id="{5A8C7117-591A-F089-5F54-0229077FDEA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29278237-7990-A997-2285-EB2F5BB4EF44}"/>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F37C1434-DB0E-53EF-4140-56A0F3CD6EA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8" name="TextBox 18">
              <a:extLst>
                <a:ext uri="{FF2B5EF4-FFF2-40B4-BE49-F238E27FC236}">
                  <a16:creationId xmlns:a16="http://schemas.microsoft.com/office/drawing/2014/main" id="{4FC388C1-59EC-CA17-BA41-9AF3AAD42D8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90F65A21-E49B-9858-6EAD-EBC3142E623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EFDE14F0-9F59-E35F-B5B7-45C77C56354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1" name="TextBox 21">
              <a:extLst>
                <a:ext uri="{FF2B5EF4-FFF2-40B4-BE49-F238E27FC236}">
                  <a16:creationId xmlns:a16="http://schemas.microsoft.com/office/drawing/2014/main" id="{E1181869-B448-2B7A-67F5-160B09C76D9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8B27AB66-420C-E7D0-5891-910B564CA2C2}"/>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F0605CE2-624E-D2DA-6357-65C5FA138C6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4" name="TextBox 24">
              <a:extLst>
                <a:ext uri="{FF2B5EF4-FFF2-40B4-BE49-F238E27FC236}">
                  <a16:creationId xmlns:a16="http://schemas.microsoft.com/office/drawing/2014/main" id="{DA9B1286-A8A4-091B-5AF9-F0B275F703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127DF020-AEA7-8D57-9411-90D58D65D05B}"/>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00BA2729-D580-CF8D-87CD-EE786F2E40E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7" name="TextBox 27">
              <a:extLst>
                <a:ext uri="{FF2B5EF4-FFF2-40B4-BE49-F238E27FC236}">
                  <a16:creationId xmlns:a16="http://schemas.microsoft.com/office/drawing/2014/main" id="{F0B6F8BA-7047-AE2A-DB03-E6846F9FAEA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B5DE7324-71F9-1D79-AB1E-F97481653389}"/>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E780ED4E-44DF-E344-CCEA-834D1374F6A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0" name="TextBox 30">
              <a:extLst>
                <a:ext uri="{FF2B5EF4-FFF2-40B4-BE49-F238E27FC236}">
                  <a16:creationId xmlns:a16="http://schemas.microsoft.com/office/drawing/2014/main" id="{AC7D9CD8-E54E-AD67-D59B-5D4A37A1B41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3560347-DE50-10F7-9905-7228E593D28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1B9E463A-B010-8D72-6350-7242CB0AAF56}"/>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3" name="TextBox 33">
              <a:extLst>
                <a:ext uri="{FF2B5EF4-FFF2-40B4-BE49-F238E27FC236}">
                  <a16:creationId xmlns:a16="http://schemas.microsoft.com/office/drawing/2014/main" id="{C15BE220-858E-1446-5B56-D3329A06A997}"/>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8F156A3-70B1-1344-389E-4B3C64CA921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txBody>
          <a:bodyPr/>
          <a:lstStyle/>
          <a:p>
            <a:endParaRPr lang="en-US"/>
          </a:p>
        </p:txBody>
      </p:sp>
      <p:grpSp>
        <p:nvGrpSpPr>
          <p:cNvPr id="35" name="Group 35">
            <a:extLst>
              <a:ext uri="{FF2B5EF4-FFF2-40B4-BE49-F238E27FC236}">
                <a16:creationId xmlns:a16="http://schemas.microsoft.com/office/drawing/2014/main" id="{A36A5C58-00A3-2FE9-36E4-D92AAF44A0F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BADF0EED-F663-F70E-9BB3-C0F576114D0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US"/>
            </a:p>
          </p:txBody>
        </p:sp>
        <p:sp>
          <p:nvSpPr>
            <p:cNvPr id="37" name="TextBox 37">
              <a:extLst>
                <a:ext uri="{FF2B5EF4-FFF2-40B4-BE49-F238E27FC236}">
                  <a16:creationId xmlns:a16="http://schemas.microsoft.com/office/drawing/2014/main" id="{54542349-F329-7DA6-DBD4-7EFA939B9892}"/>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B6CAD810-8433-9B89-E144-29986E25063F}"/>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746F2C30-13B1-3754-C147-D58A899BC459}"/>
              </a:ext>
            </a:extLst>
          </p:cNvPr>
          <p:cNvSpPr txBox="1"/>
          <p:nvPr/>
        </p:nvSpPr>
        <p:spPr>
          <a:xfrm>
            <a:off x="2291275" y="1638300"/>
            <a:ext cx="15082325" cy="5693866"/>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2" name="Picture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47825" y="1557337"/>
            <a:ext cx="14992350" cy="7172325"/>
          </a:xfrm>
          <a:prstGeom prst="rect">
            <a:avLst/>
          </a:prstGeom>
        </p:spPr>
      </p:pic>
    </p:spTree>
    <p:extLst>
      <p:ext uri="{BB962C8B-B14F-4D97-AF65-F5344CB8AC3E}">
        <p14:creationId xmlns:p14="http://schemas.microsoft.com/office/powerpoint/2010/main" val="39811873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C0F4F051-5473-4E78-FEB2-59A87A5FBB9B}"/>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66BE183E-F015-FFD4-5C84-C25B4DCE490A}"/>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3AEC1772-D597-ACC7-7EF1-FF0460F37AA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9" name="TextBox 9">
              <a:extLst>
                <a:ext uri="{FF2B5EF4-FFF2-40B4-BE49-F238E27FC236}">
                  <a16:creationId xmlns:a16="http://schemas.microsoft.com/office/drawing/2014/main" id="{46839344-8B05-5C56-F0B1-64E24F458991}"/>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8(B)</a:t>
              </a:r>
            </a:p>
          </p:txBody>
        </p:sp>
      </p:grpSp>
      <p:grpSp>
        <p:nvGrpSpPr>
          <p:cNvPr id="10" name="Group 10">
            <a:extLst>
              <a:ext uri="{FF2B5EF4-FFF2-40B4-BE49-F238E27FC236}">
                <a16:creationId xmlns:a16="http://schemas.microsoft.com/office/drawing/2014/main" id="{23B54700-9ABF-8EDD-8B21-24A9248C534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B99246F8-F6B5-2F2E-2FB4-FAE1DD41DCC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2" name="TextBox 12">
              <a:extLst>
                <a:ext uri="{FF2B5EF4-FFF2-40B4-BE49-F238E27FC236}">
                  <a16:creationId xmlns:a16="http://schemas.microsoft.com/office/drawing/2014/main" id="{B7CDDD7B-8A9B-223F-951A-473D0C9404F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B3E1A8FC-D0F1-BD05-9C14-C10EAE95E57E}"/>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CEB5FB4E-3BF3-BC6A-6692-FE375141E45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5" name="TextBox 15">
              <a:extLst>
                <a:ext uri="{FF2B5EF4-FFF2-40B4-BE49-F238E27FC236}">
                  <a16:creationId xmlns:a16="http://schemas.microsoft.com/office/drawing/2014/main" id="{38F8F103-F0A5-8F95-A139-8DBEBEF19C2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8C558648-2D59-16EB-3098-EAF5DE978B1F}"/>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B168779D-5467-4E78-AD1E-36B5A75A347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8" name="TextBox 18">
              <a:extLst>
                <a:ext uri="{FF2B5EF4-FFF2-40B4-BE49-F238E27FC236}">
                  <a16:creationId xmlns:a16="http://schemas.microsoft.com/office/drawing/2014/main" id="{8AFC0BB4-20A4-849D-A1E4-FA90A8DDCC7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700D33AC-D53D-0E96-8752-E5DA06AE57A5}"/>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14DABAFB-38B3-CE49-B21D-A496D7EC2A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1" name="TextBox 21">
              <a:extLst>
                <a:ext uri="{FF2B5EF4-FFF2-40B4-BE49-F238E27FC236}">
                  <a16:creationId xmlns:a16="http://schemas.microsoft.com/office/drawing/2014/main" id="{BE27A610-3BC0-BFBC-2A61-4C157B024EF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6C0E28B4-531C-D2E1-F3C9-B5A98A28B69D}"/>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C193347-3923-7F1F-A580-A7462B158EC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4" name="TextBox 24">
              <a:extLst>
                <a:ext uri="{FF2B5EF4-FFF2-40B4-BE49-F238E27FC236}">
                  <a16:creationId xmlns:a16="http://schemas.microsoft.com/office/drawing/2014/main" id="{C5DDC20D-7BD0-E255-26F1-86A88AF67CF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9DBB21A1-CAFF-686E-D181-980219283F79}"/>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5531A9C5-B561-53EA-BF9A-3BE6A607C1B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7" name="TextBox 27">
              <a:extLst>
                <a:ext uri="{FF2B5EF4-FFF2-40B4-BE49-F238E27FC236}">
                  <a16:creationId xmlns:a16="http://schemas.microsoft.com/office/drawing/2014/main" id="{D8870C21-3327-4D63-FD34-36BC479967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4D7C3EBE-FA20-7E4C-13DD-84F1A98618F6}"/>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C1E3AE62-1B2B-FE1E-010C-A26C4F613A6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0" name="TextBox 30">
              <a:extLst>
                <a:ext uri="{FF2B5EF4-FFF2-40B4-BE49-F238E27FC236}">
                  <a16:creationId xmlns:a16="http://schemas.microsoft.com/office/drawing/2014/main" id="{CDA04BD5-C99C-980C-6593-EDEA378D6C3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77207A6-9552-432B-0793-EB6A88EE3C1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7447A1E-BA0C-26C0-C743-E590A55A653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3" name="TextBox 33">
              <a:extLst>
                <a:ext uri="{FF2B5EF4-FFF2-40B4-BE49-F238E27FC236}">
                  <a16:creationId xmlns:a16="http://schemas.microsoft.com/office/drawing/2014/main" id="{8D425BCC-6A0F-30CB-18E7-D1E21E871D9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35F87FC1-4854-F9D4-8104-40945AD6A772}"/>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txBody>
          <a:bodyPr/>
          <a:lstStyle/>
          <a:p>
            <a:endParaRPr lang="en-US"/>
          </a:p>
        </p:txBody>
      </p:sp>
      <p:grpSp>
        <p:nvGrpSpPr>
          <p:cNvPr id="35" name="Group 35">
            <a:extLst>
              <a:ext uri="{FF2B5EF4-FFF2-40B4-BE49-F238E27FC236}">
                <a16:creationId xmlns:a16="http://schemas.microsoft.com/office/drawing/2014/main" id="{C7CF20EF-980A-2D88-E968-DCB5B8BC6CF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A7A686B7-4E4C-A5FA-60CD-A6EFF9DEAD8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US"/>
            </a:p>
          </p:txBody>
        </p:sp>
        <p:sp>
          <p:nvSpPr>
            <p:cNvPr id="37" name="TextBox 37">
              <a:extLst>
                <a:ext uri="{FF2B5EF4-FFF2-40B4-BE49-F238E27FC236}">
                  <a16:creationId xmlns:a16="http://schemas.microsoft.com/office/drawing/2014/main" id="{3ECD8D52-6368-578C-BEB2-0B1BA37FD45D}"/>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638323CF-7DCB-075F-B739-0F88472F060D}"/>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6C0EA81E-D408-1A06-6895-1BF3CA09E497}"/>
              </a:ext>
            </a:extLst>
          </p:cNvPr>
          <p:cNvSpPr txBox="1"/>
          <p:nvPr/>
        </p:nvSpPr>
        <p:spPr>
          <a:xfrm>
            <a:off x="2209800" y="1638300"/>
            <a:ext cx="15082325" cy="4832092"/>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2" name="Picture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43062" y="1562100"/>
            <a:ext cx="15001875" cy="7162800"/>
          </a:xfrm>
          <a:prstGeom prst="rect">
            <a:avLst/>
          </a:prstGeom>
        </p:spPr>
      </p:pic>
    </p:spTree>
    <p:extLst>
      <p:ext uri="{BB962C8B-B14F-4D97-AF65-F5344CB8AC3E}">
        <p14:creationId xmlns:p14="http://schemas.microsoft.com/office/powerpoint/2010/main" val="475448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0152AA6E-1A8C-A42D-344E-C811AB58A618}"/>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EB7F1E1F-336A-607D-2868-6C57FF54EB44}"/>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63528BA9-EE0E-A6F8-4A8C-6DFC964B206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9" name="TextBox 9">
              <a:extLst>
                <a:ext uri="{FF2B5EF4-FFF2-40B4-BE49-F238E27FC236}">
                  <a16:creationId xmlns:a16="http://schemas.microsoft.com/office/drawing/2014/main" id="{6E25C449-B344-E643-12F7-C89DEE4255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8(C)</a:t>
              </a:r>
            </a:p>
          </p:txBody>
        </p:sp>
      </p:grpSp>
      <p:grpSp>
        <p:nvGrpSpPr>
          <p:cNvPr id="10" name="Group 10">
            <a:extLst>
              <a:ext uri="{FF2B5EF4-FFF2-40B4-BE49-F238E27FC236}">
                <a16:creationId xmlns:a16="http://schemas.microsoft.com/office/drawing/2014/main" id="{4C22D2BC-F5CA-423B-6FD6-94172693045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F6670B32-1168-757A-3D40-FDD55687DCF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2" name="TextBox 12">
              <a:extLst>
                <a:ext uri="{FF2B5EF4-FFF2-40B4-BE49-F238E27FC236}">
                  <a16:creationId xmlns:a16="http://schemas.microsoft.com/office/drawing/2014/main" id="{0D3BB7FD-57C6-C09A-D875-135D505A8E1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067A86AC-A2D1-3F33-5857-9F69983F71BB}"/>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D9EADC3C-D136-0700-9300-4D8E867EC53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5" name="TextBox 15">
              <a:extLst>
                <a:ext uri="{FF2B5EF4-FFF2-40B4-BE49-F238E27FC236}">
                  <a16:creationId xmlns:a16="http://schemas.microsoft.com/office/drawing/2014/main" id="{A8EAD5F3-3FC4-819A-6ECD-0BC55C92A2B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1671F77B-B3A5-F8B6-AC67-6EF88CA95877}"/>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1303025A-EF3E-710E-2DBD-D89F29B8499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8" name="TextBox 18">
              <a:extLst>
                <a:ext uri="{FF2B5EF4-FFF2-40B4-BE49-F238E27FC236}">
                  <a16:creationId xmlns:a16="http://schemas.microsoft.com/office/drawing/2014/main" id="{76E7D281-CC96-92C2-C2F7-583674F0609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E0D02FED-C5F4-9CC7-F1F5-E75E542840A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384D1E33-434F-2FA0-56CC-F24058D8639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1" name="TextBox 21">
              <a:extLst>
                <a:ext uri="{FF2B5EF4-FFF2-40B4-BE49-F238E27FC236}">
                  <a16:creationId xmlns:a16="http://schemas.microsoft.com/office/drawing/2014/main" id="{F2FC0DCA-FB2A-610C-A8DB-76CE251A57D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4CA1DB61-05A2-042F-9815-00DBC40D0556}"/>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7E4E958-360B-28EF-052B-EDDBDD5F40F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4" name="TextBox 24">
              <a:extLst>
                <a:ext uri="{FF2B5EF4-FFF2-40B4-BE49-F238E27FC236}">
                  <a16:creationId xmlns:a16="http://schemas.microsoft.com/office/drawing/2014/main" id="{BEDBF5CC-2720-E821-001C-11BCB7273E2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6B96629A-6996-B0D7-13D6-0FA011422666}"/>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912F1ED8-E3AD-E90A-10CE-D50A8F7D91A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7" name="TextBox 27">
              <a:extLst>
                <a:ext uri="{FF2B5EF4-FFF2-40B4-BE49-F238E27FC236}">
                  <a16:creationId xmlns:a16="http://schemas.microsoft.com/office/drawing/2014/main" id="{00E45F23-6E8F-F601-2EB3-537A898E704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A40D6715-3580-0B1B-2305-C7ED6083AE85}"/>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11A59530-4B7F-6C6B-290E-578EA30200D0}"/>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0" name="TextBox 30">
              <a:extLst>
                <a:ext uri="{FF2B5EF4-FFF2-40B4-BE49-F238E27FC236}">
                  <a16:creationId xmlns:a16="http://schemas.microsoft.com/office/drawing/2014/main" id="{9BDCE736-251A-5B70-853E-A0A9A174F36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8249BDCF-E07B-269B-D039-A4360C0FE2B4}"/>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6F6B04FD-3FAC-90A2-4C1A-D809D058C0A9}"/>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3" name="TextBox 33">
              <a:extLst>
                <a:ext uri="{FF2B5EF4-FFF2-40B4-BE49-F238E27FC236}">
                  <a16:creationId xmlns:a16="http://schemas.microsoft.com/office/drawing/2014/main" id="{BEE5C092-697C-26F6-D6E0-477F151E7CAE}"/>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FF80FEAE-01A3-1956-FB30-BED14CA86273}"/>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txBody>
          <a:bodyPr/>
          <a:lstStyle/>
          <a:p>
            <a:endParaRPr lang="en-US"/>
          </a:p>
        </p:txBody>
      </p:sp>
      <p:grpSp>
        <p:nvGrpSpPr>
          <p:cNvPr id="35" name="Group 35">
            <a:extLst>
              <a:ext uri="{FF2B5EF4-FFF2-40B4-BE49-F238E27FC236}">
                <a16:creationId xmlns:a16="http://schemas.microsoft.com/office/drawing/2014/main" id="{2E8D2AB5-8B00-D9B4-469D-07CAE4ECF9C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F9F17E25-114F-438B-701A-7788D333F33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US"/>
            </a:p>
          </p:txBody>
        </p:sp>
        <p:sp>
          <p:nvSpPr>
            <p:cNvPr id="37" name="TextBox 37">
              <a:extLst>
                <a:ext uri="{FF2B5EF4-FFF2-40B4-BE49-F238E27FC236}">
                  <a16:creationId xmlns:a16="http://schemas.microsoft.com/office/drawing/2014/main" id="{1C4B6667-B2EE-BA32-402F-04368D88D5C4}"/>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B953180-DB27-F046-86E3-E3508247B406}"/>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341A1FDE-E3AB-682A-64B7-DA145F23EB91}"/>
              </a:ext>
            </a:extLst>
          </p:cNvPr>
          <p:cNvSpPr txBox="1"/>
          <p:nvPr/>
        </p:nvSpPr>
        <p:spPr>
          <a:xfrm>
            <a:off x="2209800" y="1638300"/>
            <a:ext cx="15082325" cy="5262979"/>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2" name="Picture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38300" y="1652587"/>
            <a:ext cx="15011400" cy="6981825"/>
          </a:xfrm>
          <a:prstGeom prst="rect">
            <a:avLst/>
          </a:prstGeom>
        </p:spPr>
      </p:pic>
    </p:spTree>
    <p:extLst>
      <p:ext uri="{BB962C8B-B14F-4D97-AF65-F5344CB8AC3E}">
        <p14:creationId xmlns:p14="http://schemas.microsoft.com/office/powerpoint/2010/main" val="848899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93EBAB55-7601-3C41-6F10-EE0F67F7766F}"/>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B9E2C662-B058-485B-BFC3-199F93F6D154}"/>
              </a:ext>
            </a:extLst>
          </p:cNvPr>
          <p:cNvGrpSpPr/>
          <p:nvPr/>
        </p:nvGrpSpPr>
        <p:grpSpPr>
          <a:xfrm>
            <a:off x="735588" y="7321525"/>
            <a:ext cx="992463" cy="992463"/>
            <a:chOff x="0" y="0"/>
            <a:chExt cx="812800" cy="812800"/>
          </a:xfrm>
        </p:grpSpPr>
        <p:sp>
          <p:nvSpPr>
            <p:cNvPr id="6" name="Freeform 6">
              <a:extLst>
                <a:ext uri="{FF2B5EF4-FFF2-40B4-BE49-F238E27FC236}">
                  <a16:creationId xmlns:a16="http://schemas.microsoft.com/office/drawing/2014/main" id="{F125CA7A-BCD4-5B7F-7069-AE7F5BD10A9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7" name="TextBox 7">
              <a:extLst>
                <a:ext uri="{FF2B5EF4-FFF2-40B4-BE49-F238E27FC236}">
                  <a16:creationId xmlns:a16="http://schemas.microsoft.com/office/drawing/2014/main" id="{07E08158-57E2-530C-A7FD-5AF72088CF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9</a:t>
              </a:r>
            </a:p>
          </p:txBody>
        </p:sp>
      </p:grpSp>
      <p:grpSp>
        <p:nvGrpSpPr>
          <p:cNvPr id="8" name="Group 8">
            <a:extLst>
              <a:ext uri="{FF2B5EF4-FFF2-40B4-BE49-F238E27FC236}">
                <a16:creationId xmlns:a16="http://schemas.microsoft.com/office/drawing/2014/main" id="{CB09EB64-B1EE-DA7A-E7DC-97163FE53167}"/>
              </a:ext>
            </a:extLst>
          </p:cNvPr>
          <p:cNvGrpSpPr/>
          <p:nvPr/>
        </p:nvGrpSpPr>
        <p:grpSpPr>
          <a:xfrm>
            <a:off x="977741" y="3315742"/>
            <a:ext cx="508158" cy="543805"/>
            <a:chOff x="0" y="0"/>
            <a:chExt cx="812800" cy="869819"/>
          </a:xfrm>
        </p:grpSpPr>
        <p:sp>
          <p:nvSpPr>
            <p:cNvPr id="9" name="Freeform 9">
              <a:extLst>
                <a:ext uri="{FF2B5EF4-FFF2-40B4-BE49-F238E27FC236}">
                  <a16:creationId xmlns:a16="http://schemas.microsoft.com/office/drawing/2014/main" id="{4B04A57D-53E9-134E-70C7-51485932A21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0" name="TextBox 10">
              <a:extLst>
                <a:ext uri="{FF2B5EF4-FFF2-40B4-BE49-F238E27FC236}">
                  <a16:creationId xmlns:a16="http://schemas.microsoft.com/office/drawing/2014/main" id="{AC0A25AD-0459-BAEA-2E7B-0D9279AE1BC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a:extLst>
              <a:ext uri="{FF2B5EF4-FFF2-40B4-BE49-F238E27FC236}">
                <a16:creationId xmlns:a16="http://schemas.microsoft.com/office/drawing/2014/main" id="{E0EBC171-BEE8-2D5E-8755-EE50B2570259}"/>
              </a:ext>
            </a:extLst>
          </p:cNvPr>
          <p:cNvGrpSpPr/>
          <p:nvPr/>
        </p:nvGrpSpPr>
        <p:grpSpPr>
          <a:xfrm>
            <a:off x="977741" y="1982349"/>
            <a:ext cx="508158" cy="543805"/>
            <a:chOff x="0" y="0"/>
            <a:chExt cx="812800" cy="869819"/>
          </a:xfrm>
        </p:grpSpPr>
        <p:sp>
          <p:nvSpPr>
            <p:cNvPr id="12" name="Freeform 12">
              <a:extLst>
                <a:ext uri="{FF2B5EF4-FFF2-40B4-BE49-F238E27FC236}">
                  <a16:creationId xmlns:a16="http://schemas.microsoft.com/office/drawing/2014/main" id="{E4000A93-AB8F-B573-E218-7434988FD58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3" name="TextBox 13">
              <a:extLst>
                <a:ext uri="{FF2B5EF4-FFF2-40B4-BE49-F238E27FC236}">
                  <a16:creationId xmlns:a16="http://schemas.microsoft.com/office/drawing/2014/main" id="{1228826C-BC2E-0DA0-107F-341F9D1A494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a:extLst>
              <a:ext uri="{FF2B5EF4-FFF2-40B4-BE49-F238E27FC236}">
                <a16:creationId xmlns:a16="http://schemas.microsoft.com/office/drawing/2014/main" id="{7FD594E4-E181-FD3B-1C72-DE2D718C274A}"/>
              </a:ext>
            </a:extLst>
          </p:cNvPr>
          <p:cNvGrpSpPr/>
          <p:nvPr/>
        </p:nvGrpSpPr>
        <p:grpSpPr>
          <a:xfrm>
            <a:off x="977741" y="3983373"/>
            <a:ext cx="508158" cy="543805"/>
            <a:chOff x="0" y="0"/>
            <a:chExt cx="812800" cy="869819"/>
          </a:xfrm>
        </p:grpSpPr>
        <p:sp>
          <p:nvSpPr>
            <p:cNvPr id="15" name="Freeform 15">
              <a:extLst>
                <a:ext uri="{FF2B5EF4-FFF2-40B4-BE49-F238E27FC236}">
                  <a16:creationId xmlns:a16="http://schemas.microsoft.com/office/drawing/2014/main" id="{C16DA90C-521A-EFE9-8EE9-CB3967A5095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6" name="TextBox 16">
              <a:extLst>
                <a:ext uri="{FF2B5EF4-FFF2-40B4-BE49-F238E27FC236}">
                  <a16:creationId xmlns:a16="http://schemas.microsoft.com/office/drawing/2014/main" id="{5A678428-7466-DB88-0126-41232DE4A0D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a:extLst>
              <a:ext uri="{FF2B5EF4-FFF2-40B4-BE49-F238E27FC236}">
                <a16:creationId xmlns:a16="http://schemas.microsoft.com/office/drawing/2014/main" id="{91D279A8-BDAA-B12E-DD4B-9978E9D5005C}"/>
              </a:ext>
            </a:extLst>
          </p:cNvPr>
          <p:cNvGrpSpPr/>
          <p:nvPr/>
        </p:nvGrpSpPr>
        <p:grpSpPr>
          <a:xfrm>
            <a:off x="977741" y="2648112"/>
            <a:ext cx="508158" cy="543805"/>
            <a:chOff x="0" y="0"/>
            <a:chExt cx="812800" cy="869819"/>
          </a:xfrm>
        </p:grpSpPr>
        <p:sp>
          <p:nvSpPr>
            <p:cNvPr id="18" name="Freeform 18">
              <a:extLst>
                <a:ext uri="{FF2B5EF4-FFF2-40B4-BE49-F238E27FC236}">
                  <a16:creationId xmlns:a16="http://schemas.microsoft.com/office/drawing/2014/main" id="{308F1BB3-7F58-DE0C-71F1-9782E09061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9" name="TextBox 19">
              <a:extLst>
                <a:ext uri="{FF2B5EF4-FFF2-40B4-BE49-F238E27FC236}">
                  <a16:creationId xmlns:a16="http://schemas.microsoft.com/office/drawing/2014/main" id="{35F43F9B-B904-0414-7AA7-1E7959C4C9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a:extLst>
              <a:ext uri="{FF2B5EF4-FFF2-40B4-BE49-F238E27FC236}">
                <a16:creationId xmlns:a16="http://schemas.microsoft.com/office/drawing/2014/main" id="{311E9EBB-A9CE-A64F-FF44-F82C0D52AC32}"/>
              </a:ext>
            </a:extLst>
          </p:cNvPr>
          <p:cNvGrpSpPr/>
          <p:nvPr/>
        </p:nvGrpSpPr>
        <p:grpSpPr>
          <a:xfrm>
            <a:off x="977741" y="5318634"/>
            <a:ext cx="508158" cy="543805"/>
            <a:chOff x="0" y="0"/>
            <a:chExt cx="812800" cy="869819"/>
          </a:xfrm>
        </p:grpSpPr>
        <p:sp>
          <p:nvSpPr>
            <p:cNvPr id="21" name="Freeform 21">
              <a:extLst>
                <a:ext uri="{FF2B5EF4-FFF2-40B4-BE49-F238E27FC236}">
                  <a16:creationId xmlns:a16="http://schemas.microsoft.com/office/drawing/2014/main" id="{DED3A9EA-E50F-553B-EDAA-87F95FD2280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2" name="TextBox 22">
              <a:extLst>
                <a:ext uri="{FF2B5EF4-FFF2-40B4-BE49-F238E27FC236}">
                  <a16:creationId xmlns:a16="http://schemas.microsoft.com/office/drawing/2014/main" id="{7E9C7CEA-D993-4107-0776-54AC90E2062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3" name="Group 23">
            <a:extLst>
              <a:ext uri="{FF2B5EF4-FFF2-40B4-BE49-F238E27FC236}">
                <a16:creationId xmlns:a16="http://schemas.microsoft.com/office/drawing/2014/main" id="{7B397A27-1CC9-9661-DA24-10B3E1042399}"/>
              </a:ext>
            </a:extLst>
          </p:cNvPr>
          <p:cNvGrpSpPr/>
          <p:nvPr/>
        </p:nvGrpSpPr>
        <p:grpSpPr>
          <a:xfrm>
            <a:off x="977741" y="4651003"/>
            <a:ext cx="508158" cy="543805"/>
            <a:chOff x="0" y="0"/>
            <a:chExt cx="812800" cy="869819"/>
          </a:xfrm>
        </p:grpSpPr>
        <p:sp>
          <p:nvSpPr>
            <p:cNvPr id="24" name="Freeform 24">
              <a:extLst>
                <a:ext uri="{FF2B5EF4-FFF2-40B4-BE49-F238E27FC236}">
                  <a16:creationId xmlns:a16="http://schemas.microsoft.com/office/drawing/2014/main" id="{2A8CD899-9C63-11A3-805F-4CA0E12C7CB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5" name="TextBox 25">
              <a:extLst>
                <a:ext uri="{FF2B5EF4-FFF2-40B4-BE49-F238E27FC236}">
                  <a16:creationId xmlns:a16="http://schemas.microsoft.com/office/drawing/2014/main" id="{1976C224-9A36-532E-5E8B-B738C9FBC3FF}"/>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6" name="Group 26">
            <a:extLst>
              <a:ext uri="{FF2B5EF4-FFF2-40B4-BE49-F238E27FC236}">
                <a16:creationId xmlns:a16="http://schemas.microsoft.com/office/drawing/2014/main" id="{E8CFE39F-6666-6E69-8980-5B55F6D56478}"/>
              </a:ext>
            </a:extLst>
          </p:cNvPr>
          <p:cNvGrpSpPr/>
          <p:nvPr/>
        </p:nvGrpSpPr>
        <p:grpSpPr>
          <a:xfrm>
            <a:off x="977741" y="5986264"/>
            <a:ext cx="508158" cy="543805"/>
            <a:chOff x="0" y="0"/>
            <a:chExt cx="812800" cy="869819"/>
          </a:xfrm>
        </p:grpSpPr>
        <p:sp>
          <p:nvSpPr>
            <p:cNvPr id="27" name="Freeform 27">
              <a:extLst>
                <a:ext uri="{FF2B5EF4-FFF2-40B4-BE49-F238E27FC236}">
                  <a16:creationId xmlns:a16="http://schemas.microsoft.com/office/drawing/2014/main" id="{F859737D-AFDF-BDFC-6651-3B954F2DD4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8" name="TextBox 28">
              <a:extLst>
                <a:ext uri="{FF2B5EF4-FFF2-40B4-BE49-F238E27FC236}">
                  <a16:creationId xmlns:a16="http://schemas.microsoft.com/office/drawing/2014/main" id="{B7B59B44-AD68-1549-9F86-A09D82459B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a:extLst>
              <a:ext uri="{FF2B5EF4-FFF2-40B4-BE49-F238E27FC236}">
                <a16:creationId xmlns:a16="http://schemas.microsoft.com/office/drawing/2014/main" id="{3FACABC2-D51C-1EF5-0D1B-34B410283F2E}"/>
              </a:ext>
            </a:extLst>
          </p:cNvPr>
          <p:cNvGrpSpPr/>
          <p:nvPr/>
        </p:nvGrpSpPr>
        <p:grpSpPr>
          <a:xfrm>
            <a:off x="977741" y="6653894"/>
            <a:ext cx="508158" cy="543805"/>
            <a:chOff x="0" y="0"/>
            <a:chExt cx="812800" cy="869819"/>
          </a:xfrm>
        </p:grpSpPr>
        <p:sp>
          <p:nvSpPr>
            <p:cNvPr id="30" name="Freeform 30">
              <a:extLst>
                <a:ext uri="{FF2B5EF4-FFF2-40B4-BE49-F238E27FC236}">
                  <a16:creationId xmlns:a16="http://schemas.microsoft.com/office/drawing/2014/main" id="{6DD43112-BD1E-86D9-D9C6-3C97559FC56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1" name="TextBox 31">
              <a:extLst>
                <a:ext uri="{FF2B5EF4-FFF2-40B4-BE49-F238E27FC236}">
                  <a16:creationId xmlns:a16="http://schemas.microsoft.com/office/drawing/2014/main" id="{C34845E4-4A4B-0A81-5A55-14004816579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sp>
        <p:nvSpPr>
          <p:cNvPr id="32" name="Freeform 32">
            <a:extLst>
              <a:ext uri="{FF2B5EF4-FFF2-40B4-BE49-F238E27FC236}">
                <a16:creationId xmlns:a16="http://schemas.microsoft.com/office/drawing/2014/main" id="{05CB8E9D-B497-44FF-DB18-7D166BD2DA61}"/>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txBody>
          <a:bodyPr/>
          <a:lstStyle/>
          <a:p>
            <a:endParaRPr lang="en-US"/>
          </a:p>
        </p:txBody>
      </p:sp>
      <p:grpSp>
        <p:nvGrpSpPr>
          <p:cNvPr id="44" name="Group 44">
            <a:extLst>
              <a:ext uri="{FF2B5EF4-FFF2-40B4-BE49-F238E27FC236}">
                <a16:creationId xmlns:a16="http://schemas.microsoft.com/office/drawing/2014/main" id="{FBD0A79F-CA0B-2560-37ED-E07624B11027}"/>
              </a:ext>
            </a:extLst>
          </p:cNvPr>
          <p:cNvGrpSpPr/>
          <p:nvPr/>
        </p:nvGrpSpPr>
        <p:grpSpPr>
          <a:xfrm>
            <a:off x="16786360" y="-353712"/>
            <a:ext cx="10994424" cy="10994424"/>
            <a:chOff x="0" y="0"/>
            <a:chExt cx="812800" cy="812800"/>
          </a:xfrm>
        </p:grpSpPr>
        <p:sp>
          <p:nvSpPr>
            <p:cNvPr id="45" name="Freeform 45">
              <a:extLst>
                <a:ext uri="{FF2B5EF4-FFF2-40B4-BE49-F238E27FC236}">
                  <a16:creationId xmlns:a16="http://schemas.microsoft.com/office/drawing/2014/main" id="{25583CD3-FA12-1B53-043B-9FE4E18BA02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txBody>
            <a:bodyPr/>
            <a:lstStyle/>
            <a:p>
              <a:endParaRPr lang="en-US"/>
            </a:p>
          </p:txBody>
        </p:sp>
        <p:sp>
          <p:nvSpPr>
            <p:cNvPr id="46" name="TextBox 46">
              <a:extLst>
                <a:ext uri="{FF2B5EF4-FFF2-40B4-BE49-F238E27FC236}">
                  <a16:creationId xmlns:a16="http://schemas.microsoft.com/office/drawing/2014/main" id="{FA405478-0BA8-4A85-A81A-B9346174FE6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2" name="TextBox 1">
            <a:extLst>
              <a:ext uri="{FF2B5EF4-FFF2-40B4-BE49-F238E27FC236}">
                <a16:creationId xmlns:a16="http://schemas.microsoft.com/office/drawing/2014/main" id="{BC926643-39EA-932E-6755-230476B3078D}"/>
              </a:ext>
            </a:extLst>
          </p:cNvPr>
          <p:cNvSpPr txBox="1"/>
          <p:nvPr/>
        </p:nvSpPr>
        <p:spPr>
          <a:xfrm>
            <a:off x="190500" y="290493"/>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ADVANTAGES &amp; LIMITATIONS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05F4B910-3C19-1342-AB83-20DCCA6744B8}"/>
              </a:ext>
            </a:extLst>
          </p:cNvPr>
          <p:cNvSpPr txBox="1"/>
          <p:nvPr/>
        </p:nvSpPr>
        <p:spPr>
          <a:xfrm>
            <a:off x="2516626" y="2475171"/>
            <a:ext cx="13877208" cy="6832640"/>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Advantages :</a:t>
            </a:r>
          </a:p>
          <a:p>
            <a:endParaRPr lang="en-US" sz="2400" b="1"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Provides a centralized platform for managing all campus events efficiently. </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Reduces manual work and minimizes errors in event handling. </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Enables easy event registration and access for students. </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Improves communication between administrators and students. </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Ensures better data management and real-time update.</a:t>
            </a:r>
          </a:p>
          <a:p>
            <a:pPr marL="342900" indent="-342900">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r>
              <a:rPr lang="en-US" sz="2800" b="1" dirty="0">
                <a:latin typeface="Times New Roman" panose="02020603050405020304" pitchFamily="18" charset="0"/>
                <a:cs typeface="Times New Roman" panose="02020603050405020304" pitchFamily="18" charset="0"/>
              </a:rPr>
              <a:t>Limitations :</a:t>
            </a:r>
          </a:p>
          <a:p>
            <a:endParaRPr lang="en-US" sz="2800" b="1"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Requires internet connection for access and functionality. </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Basic security implementation (can be improved for real-world deployment). </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Limited scalability for very large institutions or heavy traffic. </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Depends on proper database configuration and maintenance. </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UI/UX may be simple and can be enhanced further. </a:t>
            </a:r>
          </a:p>
          <a:p>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18389767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32" name="Freeform 32"/>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txBody>
          <a:bodyPr/>
          <a:lstStyle/>
          <a:p>
            <a:endParaRPr lang="en-US"/>
          </a:p>
        </p:txBody>
      </p:sp>
      <p:sp>
        <p:nvSpPr>
          <p:cNvPr id="43" name="TextBox 43"/>
          <p:cNvSpPr txBox="1"/>
          <p:nvPr/>
        </p:nvSpPr>
        <p:spPr>
          <a:xfrm>
            <a:off x="3200400" y="4486172"/>
            <a:ext cx="11159653" cy="1314655"/>
          </a:xfrm>
          <a:prstGeom prst="rect">
            <a:avLst/>
          </a:prstGeom>
        </p:spPr>
        <p:txBody>
          <a:bodyPr wrap="square" lIns="0" tIns="0" rIns="0" bIns="0" rtlCol="0" anchor="t">
            <a:spAutoFit/>
          </a:bodyPr>
          <a:lstStyle/>
          <a:p>
            <a:pPr algn="ctr">
              <a:lnSpc>
                <a:spcPts val="10149"/>
              </a:lnSpc>
            </a:pPr>
            <a:r>
              <a:rPr lang="en-US" sz="11153" b="1" i="1" dirty="0">
                <a:solidFill>
                  <a:srgbClr val="191919"/>
                </a:solidFill>
                <a:latin typeface="Gotham Bold Italics"/>
                <a:ea typeface="Gotham Bold Italics"/>
                <a:cs typeface="Gotham Bold Italics"/>
                <a:sym typeface="Gotham Bold Italics"/>
              </a:rPr>
              <a:t>Thank you</a:t>
            </a:r>
          </a:p>
        </p:txBody>
      </p:sp>
      <p:grpSp>
        <p:nvGrpSpPr>
          <p:cNvPr id="44" name="Group 44"/>
          <p:cNvGrpSpPr/>
          <p:nvPr/>
        </p:nvGrpSpPr>
        <p:grpSpPr>
          <a:xfrm>
            <a:off x="16786360" y="-353712"/>
            <a:ext cx="10994424" cy="10994424"/>
            <a:chOff x="0" y="0"/>
            <a:chExt cx="812800" cy="812800"/>
          </a:xfrm>
        </p:grpSpPr>
        <p:sp>
          <p:nvSpPr>
            <p:cNvPr id="45" name="Freeform 4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txBody>
            <a:bodyPr/>
            <a:lstStyle/>
            <a:p>
              <a:endParaRPr lang="en-US"/>
            </a:p>
          </p:txBody>
        </p:sp>
        <p:sp>
          <p:nvSpPr>
            <p:cNvPr id="46" name="TextBox 46"/>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1132</TotalTime>
  <Words>926</Words>
  <Application>Microsoft Office PowerPoint</Application>
  <PresentationFormat>Custom</PresentationFormat>
  <Paragraphs>360</Paragraphs>
  <Slides>15</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Calibri</vt:lpstr>
      <vt:lpstr>Gotham Bold Italics</vt:lpstr>
      <vt:lpstr>Cambria</vt:lpstr>
      <vt:lpstr>Bookman Old Style</vt:lpstr>
      <vt:lpstr>Gotham</vt:lpstr>
      <vt:lpstr>Arial</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Orange Simple Portfolio Presentation</dc:title>
  <dc:creator>Gali Kalpana</dc:creator>
  <cp:lastModifiedBy>Ranga</cp:lastModifiedBy>
  <cp:revision>15</cp:revision>
  <dcterms:created xsi:type="dcterms:W3CDTF">2006-08-16T00:00:00Z</dcterms:created>
  <dcterms:modified xsi:type="dcterms:W3CDTF">2026-05-06T06:25:02Z</dcterms:modified>
  <dc:identifier>DAHCaYqJ9OU</dc:identifier>
</cp:coreProperties>
</file>