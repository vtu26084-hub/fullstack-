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70" r:id="rId13"/>
    <p:sldId id="265" r:id="rId14"/>
  </p:sldIdLst>
  <p:sldSz cx="18288000" cy="10287000"/>
  <p:notesSz cx="6858000" cy="9144000"/>
  <p:embeddedFontLst>
    <p:embeddedFont>
      <p:font typeface="Bookman Old Style" panose="02050604050505020204" pitchFamily="18" charset="0"/>
      <p:regular r:id="rId15"/>
      <p:bold r:id="rId16"/>
      <p:italic r:id="rId17"/>
      <p:boldItalic r:id="rId18"/>
    </p:embeddedFont>
    <p:embeddedFont>
      <p:font typeface="Gotham" panose="020B0604020202020204" charset="0"/>
      <p:regular r:id="rId19"/>
    </p:embeddedFont>
    <p:embeddedFont>
      <p:font typeface="Gotham Bold Italics" panose="020B0604020202020204" charset="0"/>
      <p:regular r:id="rId20"/>
    </p:embeddedFont>
    <p:embeddedFont>
      <p:font typeface="Calibri" panose="020F0502020204030204" pitchFamily="34" charset="0"/>
      <p:regular r:id="rId21"/>
      <p:bold r:id="rId22"/>
      <p:italic r:id="rId23"/>
      <p:boldItalic r:id="rId24"/>
    </p:embeddedFont>
    <p:embeddedFont>
      <p:font typeface="Cambria" panose="02040503050406030204" pitchFamily="18"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658"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IN" sz="3600" b="1" dirty="0" smtClean="0">
                <a:solidFill>
                  <a:srgbClr val="C00000"/>
                </a:solidFill>
                <a:latin typeface="Arial" panose="020B0604020202020204" pitchFamily="34" charset="0"/>
                <a:cs typeface="Arial" panose="020B0604020202020204" pitchFamily="34" charset="0"/>
              </a:rPr>
              <a:t>25-03-2026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584775"/>
          </a:xfrm>
          <a:prstGeom prst="rect">
            <a:avLst/>
          </a:prstGeom>
          <a:noFill/>
        </p:spPr>
        <p:txBody>
          <a:bodyPr wrap="square" rtlCol="0">
            <a:spAutoFit/>
          </a:bodyPr>
          <a:lstStyle/>
          <a:p>
            <a:pPr algn="ctr"/>
            <a:r>
              <a:rPr lang="en-US" sz="3200" b="1" dirty="0" smtClean="0">
                <a:solidFill>
                  <a:srgbClr val="0033CC"/>
                </a:solidFill>
                <a:latin typeface="Times New Roman" panose="02020603050405020304" pitchFamily="18" charset="0"/>
                <a:cs typeface="Times New Roman" panose="02020603050405020304" pitchFamily="18" charset="0"/>
              </a:rPr>
              <a:t>RESPONSIVE E-COMMERCE INTERFACE WITH STATE-PERSISTENT CART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smtClean="0">
                <a:latin typeface="Cambria" panose="02040503050406030204" pitchFamily="18" charset="0"/>
                <a:ea typeface="Cambria" panose="02040503050406030204" pitchFamily="18" charset="0"/>
              </a:rPr>
              <a:t>K.SPANDANA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VTU26084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23UECS0765.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2800" dirty="0" err="1" smtClean="0">
                <a:latin typeface="Times New Roman" panose="02020603050405020304" pitchFamily="18" charset="0"/>
                <a:ea typeface="Cambria" panose="02040503050406030204" pitchFamily="18" charset="0"/>
                <a:cs typeface="Times New Roman" panose="02020603050405020304" pitchFamily="18" charset="0"/>
              </a:rPr>
              <a:t>Dr.S</a:t>
            </a:r>
            <a:r>
              <a:rPr lang="en-US" sz="2800" dirty="0" smtClean="0">
                <a:latin typeface="Times New Roman" panose="02020603050405020304" pitchFamily="18" charset="0"/>
                <a:ea typeface="Cambria" panose="02040503050406030204" pitchFamily="18" charset="0"/>
                <a:cs typeface="Times New Roman" panose="02020603050405020304" pitchFamily="18" charset="0"/>
              </a:rPr>
              <a:t>. </a:t>
            </a:r>
            <a:r>
              <a:rPr lang="en-US" sz="2800" dirty="0" err="1" smtClean="0">
                <a:latin typeface="Times New Roman" panose="02020603050405020304" pitchFamily="18" charset="0"/>
                <a:ea typeface="Cambria" panose="02040503050406030204" pitchFamily="18" charset="0"/>
                <a:cs typeface="Times New Roman" panose="02020603050405020304" pitchFamily="18" charset="0"/>
              </a:rPr>
              <a:t>Hemamalini</a:t>
            </a:r>
            <a:r>
              <a:rPr lang="en-US" sz="2800" dirty="0" smtClean="0">
                <a:latin typeface="Times New Roman" panose="02020603050405020304" pitchFamily="18" charset="0"/>
                <a:ea typeface="Cambria" panose="02040503050406030204" pitchFamily="18" charset="0"/>
                <a:cs typeface="Times New Roman" panose="02020603050405020304" pitchFamily="18" charset="0"/>
              </a:rPr>
              <a:t>  M.E.,</a:t>
            </a:r>
            <a:r>
              <a:rPr lang="en-US" sz="2800" dirty="0" err="1" smtClean="0">
                <a:latin typeface="Times New Roman" panose="02020603050405020304" pitchFamily="18" charset="0"/>
                <a:ea typeface="Cambria" panose="02040503050406030204" pitchFamily="18" charset="0"/>
                <a:cs typeface="Times New Roman" panose="02020603050405020304" pitchFamily="18" charset="0"/>
              </a:rPr>
              <a:t>Ph.D</a:t>
            </a:r>
            <a:endParaRPr lang="en-IN" sz="2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a:t>
            </a:r>
            <a:r>
              <a:rPr lang="en-US" sz="2800" b="1" dirty="0" smtClean="0">
                <a:latin typeface="Times New Roman" panose="02020603050405020304" pitchFamily="18" charset="0"/>
                <a:ea typeface="Cambria" panose="02040503050406030204" pitchFamily="18" charset="0"/>
                <a:cs typeface="Times New Roman" panose="02020603050405020304" pitchFamily="18" charset="0"/>
              </a:rPr>
              <a:t> </a:t>
            </a:r>
            <a:r>
              <a:rPr lang="en-US" sz="2800" b="1" dirty="0">
                <a:latin typeface="Times New Roman" panose="02020603050405020304" pitchFamily="18" charset="0"/>
                <a:ea typeface="Cambria" panose="02040503050406030204" pitchFamily="18" charset="0"/>
                <a:cs typeface="Times New Roman" panose="02020603050405020304" pitchFamily="18" charset="0"/>
              </a:rPr>
              <a:t>– </a:t>
            </a:r>
            <a:r>
              <a:rPr lang="en-US" sz="2800" b="1" dirty="0" smtClean="0">
                <a:latin typeface="Times New Roman" panose="02020603050405020304" pitchFamily="18" charset="0"/>
                <a:ea typeface="Cambria" panose="02040503050406030204" pitchFamily="18" charset="0"/>
                <a:cs typeface="Times New Roman" panose="02020603050405020304" pitchFamily="18" charset="0"/>
              </a:rPr>
              <a:t>Industry , Innovation and Infrastructure</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698544" y="910465"/>
            <a:ext cx="15593581" cy="14496276"/>
          </a:xfrm>
          <a:prstGeom prst="rect">
            <a:avLst/>
          </a:prstGeom>
          <a:noFill/>
        </p:spPr>
        <p:txBody>
          <a:bodyPr wrap="square" rtlCol="0">
            <a:spAutoFit/>
          </a:bodyPr>
          <a:lstStyle/>
          <a:p>
            <a:pPr marL="457200" indent="-457200">
              <a:buFontTx/>
              <a:buChar char="-"/>
            </a:pPr>
            <a:endParaRPr lang="en-US" sz="2800" dirty="0"/>
          </a:p>
          <a:p>
            <a:r>
              <a:rPr lang="en-US" sz="3200" b="1" dirty="0">
                <a:latin typeface="Times New Roman" panose="02020603050405020304" pitchFamily="18" charset="0"/>
                <a:cs typeface="Times New Roman" panose="02020603050405020304" pitchFamily="18" charset="0"/>
              </a:rPr>
              <a:t>Background of the </a:t>
            </a:r>
            <a:r>
              <a:rPr lang="en-US" sz="3200" b="1" dirty="0" smtClean="0">
                <a:latin typeface="Times New Roman" panose="02020603050405020304" pitchFamily="18" charset="0"/>
                <a:cs typeface="Times New Roman" panose="02020603050405020304" pitchFamily="18" charset="0"/>
              </a:rPr>
              <a:t>problem:</a:t>
            </a:r>
          </a:p>
          <a:p>
            <a:pPr marL="457200" indent="-457200">
              <a:buFontTx/>
              <a:buChar char="-"/>
            </a:pPr>
            <a:r>
              <a:rPr lang="en-US" sz="2800" dirty="0">
                <a:latin typeface="Times New Roman" panose="02020603050405020304" pitchFamily="18" charset="0"/>
                <a:cs typeface="Times New Roman" panose="02020603050405020304" pitchFamily="18" charset="0"/>
              </a:rPr>
              <a:t>With the rapid growth of online shopping, users expect smooth and seamless experiences across all devices. However, many e-commerce platforms still face issues such as poor responsiveness and inconsistent user interfaces on different screen sizes. One major problem is the loss of cart data when a page is refreshed or the user leaves the site. </a:t>
            </a:r>
            <a:endParaRPr lang="en-US" sz="2800" dirty="0" smtClean="0">
              <a:latin typeface="Times New Roman" panose="02020603050405020304" pitchFamily="18" charset="0"/>
              <a:cs typeface="Times New Roman" panose="02020603050405020304" pitchFamily="18" charset="0"/>
            </a:endParaRPr>
          </a:p>
          <a:p>
            <a:r>
              <a:rPr lang="en-US" sz="3200" b="1" dirty="0" smtClean="0">
                <a:latin typeface="Times New Roman" panose="02020603050405020304" pitchFamily="18" charset="0"/>
                <a:cs typeface="Times New Roman" panose="02020603050405020304" pitchFamily="18" charset="0"/>
              </a:rPr>
              <a:t>Why </a:t>
            </a:r>
            <a:r>
              <a:rPr lang="en-US" sz="3200" b="1" dirty="0">
                <a:latin typeface="Times New Roman" panose="02020603050405020304" pitchFamily="18" charset="0"/>
                <a:cs typeface="Times New Roman" panose="02020603050405020304" pitchFamily="18" charset="0"/>
              </a:rPr>
              <a:t>this project is </a:t>
            </a:r>
            <a:r>
              <a:rPr lang="en-US" sz="3200" b="1" dirty="0" smtClean="0">
                <a:latin typeface="Times New Roman" panose="02020603050405020304" pitchFamily="18" charset="0"/>
                <a:cs typeface="Times New Roman" panose="02020603050405020304" pitchFamily="18" charset="0"/>
              </a:rPr>
              <a:t>important:</a:t>
            </a:r>
          </a:p>
          <a:p>
            <a:pPr marL="457200" indent="-457200">
              <a:buFontTx/>
              <a:buChar char="-"/>
            </a:pPr>
            <a:r>
              <a:rPr lang="en-US" sz="2800" dirty="0" smtClean="0">
                <a:latin typeface="Times New Roman" panose="02020603050405020304" pitchFamily="18" charset="0"/>
                <a:cs typeface="Times New Roman" panose="02020603050405020304" pitchFamily="18" charset="0"/>
              </a:rPr>
              <a:t>This </a:t>
            </a:r>
            <a:r>
              <a:rPr lang="en-US" sz="2800" dirty="0">
                <a:latin typeface="Times New Roman" panose="02020603050405020304" pitchFamily="18" charset="0"/>
                <a:cs typeface="Times New Roman" panose="02020603050405020304" pitchFamily="18" charset="0"/>
              </a:rPr>
              <a:t>project is important because it enhances the overall user experience in online shopping by ensuring that selected items in the cart are not lost due to page refresh or navigation. It reduces user frustration and increases convenience, encouraging users to complete their purchases. A responsive design makes the application accessible across multiple devices, improving </a:t>
            </a:r>
            <a:r>
              <a:rPr lang="en-US" sz="2800" dirty="0" smtClean="0">
                <a:latin typeface="Times New Roman" panose="02020603050405020304" pitchFamily="18" charset="0"/>
                <a:cs typeface="Times New Roman" panose="02020603050405020304" pitchFamily="18" charset="0"/>
              </a:rPr>
              <a:t>usability.</a:t>
            </a:r>
          </a:p>
          <a:p>
            <a:r>
              <a:rPr lang="en-US" sz="3200" b="1" dirty="0" smtClean="0">
                <a:latin typeface="Times New Roman" panose="02020603050405020304" pitchFamily="18" charset="0"/>
                <a:cs typeface="Times New Roman" panose="02020603050405020304" pitchFamily="18" charset="0"/>
              </a:rPr>
              <a:t>Real-world relevance:</a:t>
            </a:r>
          </a:p>
          <a:p>
            <a:pPr marL="457200" indent="-457200">
              <a:buFontTx/>
              <a:buChar char="-"/>
            </a:pPr>
            <a:r>
              <a:rPr lang="en-US" sz="2800" dirty="0">
                <a:latin typeface="Times New Roman" panose="02020603050405020304" pitchFamily="18" charset="0"/>
                <a:cs typeface="Times New Roman" panose="02020603050405020304" pitchFamily="18" charset="0"/>
              </a:rPr>
              <a:t>This project reflects real-world e-commerce systems where users expect a seamless and uninterrupted shopping experience. Major online </a:t>
            </a:r>
            <a:r>
              <a:rPr lang="en-US" sz="2800" dirty="0" err="1" smtClean="0">
                <a:latin typeface="Times New Roman" panose="02020603050405020304" pitchFamily="18" charset="0"/>
                <a:cs typeface="Times New Roman" panose="02020603050405020304" pitchFamily="18" charset="0"/>
              </a:rPr>
              <a:t>platfoms</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use persistent carts to retain user selections, improving customer satisfaction and increasing </a:t>
            </a:r>
            <a:r>
              <a:rPr lang="en-US" sz="2800" dirty="0" err="1" smtClean="0">
                <a:latin typeface="Times New Roman" panose="02020603050405020304" pitchFamily="18" charset="0"/>
                <a:cs typeface="Times New Roman" panose="02020603050405020304" pitchFamily="18" charset="0"/>
              </a:rPr>
              <a:t>sale</a:t>
            </a:r>
            <a:r>
              <a:rPr lang="en-US" sz="2800" dirty="0" err="1">
                <a:latin typeface="Times New Roman" panose="02020603050405020304" pitchFamily="18" charset="0"/>
                <a:cs typeface="Times New Roman" panose="02020603050405020304" pitchFamily="18" charset="0"/>
              </a:rPr>
              <a:t>r</a:t>
            </a:r>
            <a:r>
              <a:rPr lang="en-US" sz="2800" dirty="0" err="1" smtClean="0">
                <a:latin typeface="Times New Roman" panose="02020603050405020304" pitchFamily="18" charset="0"/>
                <a:cs typeface="Times New Roman" panose="02020603050405020304" pitchFamily="18" charset="0"/>
              </a:rPr>
              <a:t>s</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This solution can be directly applied to online retail, food delivery apps, and booking </a:t>
            </a:r>
            <a:r>
              <a:rPr lang="en-US" sz="2800" dirty="0" smtClean="0">
                <a:latin typeface="Times New Roman" panose="02020603050405020304" pitchFamily="18" charset="0"/>
                <a:cs typeface="Times New Roman" panose="02020603050405020304" pitchFamily="18" charset="0"/>
              </a:rPr>
              <a:t>systems</a:t>
            </a:r>
            <a:endParaRPr lang="en-US" sz="28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Brief overview of the </a:t>
            </a:r>
            <a:r>
              <a:rPr lang="en-US" sz="3200" b="1" dirty="0" smtClean="0">
                <a:latin typeface="Times New Roman" panose="02020603050405020304" pitchFamily="18" charset="0"/>
                <a:cs typeface="Times New Roman" panose="02020603050405020304" pitchFamily="18" charset="0"/>
              </a:rPr>
              <a:t>system:</a:t>
            </a:r>
          </a:p>
          <a:p>
            <a:pPr marL="457200" indent="-457200">
              <a:buFontTx/>
              <a:buChar char="-"/>
            </a:pPr>
            <a:r>
              <a:rPr lang="en-US" sz="2800" dirty="0">
                <a:latin typeface="Times New Roman" panose="02020603050405020304" pitchFamily="18" charset="0"/>
                <a:cs typeface="Times New Roman" panose="02020603050405020304" pitchFamily="18" charset="0"/>
              </a:rPr>
              <a:t>The system is a responsive e-commerce web application that allows users to browse products, view details, and add items to a shopping cart. It is designed to work seamlessly across different devices such as mobiles, tablets, and desktops</a:t>
            </a:r>
            <a:r>
              <a:rPr lang="en-US" sz="2800" dirty="0"/>
              <a:t>.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05000" y="1714500"/>
            <a:ext cx="15082325" cy="9140964"/>
          </a:xfrm>
          <a:prstGeom prst="rect">
            <a:avLst/>
          </a:prstGeom>
          <a:noFill/>
        </p:spPr>
        <p:txBody>
          <a:bodyPr wrap="square" rtlCol="0">
            <a:spAutoFit/>
          </a:bodyPr>
          <a:lstStyle/>
          <a:p>
            <a:endParaRPr lang="en-US" sz="2800" dirty="0"/>
          </a:p>
          <a:p>
            <a:r>
              <a:rPr lang="en-US" sz="3200" b="1" dirty="0">
                <a:latin typeface="Times New Roman" panose="02020603050405020304" pitchFamily="18" charset="0"/>
                <a:cs typeface="Times New Roman" panose="02020603050405020304" pitchFamily="18" charset="0"/>
              </a:rPr>
              <a:t>Clearly define the </a:t>
            </a:r>
            <a:r>
              <a:rPr lang="en-US" sz="3200" b="1" dirty="0" smtClean="0">
                <a:latin typeface="Times New Roman" panose="02020603050405020304" pitchFamily="18" charset="0"/>
                <a:cs typeface="Times New Roman" panose="02020603050405020304" pitchFamily="18" charset="0"/>
              </a:rPr>
              <a:t>problem:</a:t>
            </a:r>
          </a:p>
          <a:p>
            <a:pPr marL="457200" indent="-457200">
              <a:buFontTx/>
              <a:buChar char="-"/>
            </a:pPr>
            <a:r>
              <a:rPr lang="en-US" sz="2800" dirty="0">
                <a:latin typeface="Times New Roman" panose="02020603050405020304" pitchFamily="18" charset="0"/>
                <a:cs typeface="Times New Roman" panose="02020603050405020304" pitchFamily="18" charset="0"/>
              </a:rPr>
              <a:t>In many existing e-commerce systems, the user interface is not fully responsive, leading to poor usability across different devices such as mobiles, tablets, and desktops. Additionally, shopping cart data is often not preserved when the user refreshes the page or leaves the site, resulting in loss of selected items. This creates inconvenience and reduces user satisfaction. The lack of a persistent cart system affects the overall shopping experience and may lead to cart abandonment. Therefore, there is a need for a responsive and reliable e-commerce interface with a state-persistent cart that ensures data retention and improves usability, efficiency, and user engagement</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responsive e-commerce interface for multi-device compatibility.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 state-persistent cart using local storage for data retention.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user experience by preventing loss of cart items during refresh or navigation.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evaluate the performance of the system in terms of responsiveness and data persistence. </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176975" y="1691737"/>
            <a:ext cx="15082325" cy="12280285"/>
          </a:xfrm>
          <a:prstGeom prst="rect">
            <a:avLst/>
          </a:prstGeom>
          <a:noFill/>
        </p:spPr>
        <p:txBody>
          <a:bodyPr wrap="square" rtlCol="0">
            <a:spAutoFit/>
          </a:bodyPr>
          <a:lstStyle/>
          <a:p>
            <a:pPr lvl="1"/>
            <a:r>
              <a:rPr lang="en-US" sz="3200" b="1" dirty="0" smtClean="0">
                <a:latin typeface="Times New Roman" panose="02020603050405020304" pitchFamily="18" charset="0"/>
                <a:cs typeface="Times New Roman" panose="02020603050405020304" pitchFamily="18" charset="0"/>
              </a:rPr>
              <a:t>Description </a:t>
            </a:r>
            <a:r>
              <a:rPr lang="en-US" sz="3200" b="1" dirty="0">
                <a:latin typeface="Times New Roman" panose="02020603050405020304" pitchFamily="18" charset="0"/>
                <a:cs typeface="Times New Roman" panose="02020603050405020304" pitchFamily="18" charset="0"/>
              </a:rPr>
              <a:t>of your </a:t>
            </a:r>
            <a:r>
              <a:rPr lang="en-US" sz="3200" b="1" dirty="0" smtClean="0">
                <a:latin typeface="Times New Roman" panose="02020603050405020304" pitchFamily="18" charset="0"/>
                <a:cs typeface="Times New Roman" panose="02020603050405020304" pitchFamily="18" charset="0"/>
              </a:rPr>
              <a:t>solution:</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responsive e-commerce web application that provides a smooth and user-friendly shopping experience across multiple devices. It displays products with relevant details such as name, price, and images. Users can add or remove items from the shopping cart easily.</a:t>
            </a:r>
          </a:p>
          <a:p>
            <a:pPr lvl="1"/>
            <a:r>
              <a:rPr lang="en-US" sz="3200" b="1" dirty="0" smtClean="0">
                <a:latin typeface="Times New Roman" panose="02020603050405020304" pitchFamily="18" charset="0"/>
                <a:cs typeface="Times New Roman" panose="02020603050405020304" pitchFamily="18" charset="0"/>
              </a:rPr>
              <a:t>How it solves existing issues:</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addresses the problem of cart data loss by implementing a state-persistent cart using local storage, ensuring that selected items remain saved even after page refresh or navigation. </a:t>
            </a:r>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system reduces user frustration by eliminating the need to reselect products repeatedly. </a:t>
            </a:r>
            <a:endParaRPr lang="en-US" sz="2800" dirty="0" smtClean="0">
              <a:latin typeface="Times New Roman" panose="02020603050405020304" pitchFamily="18" charset="0"/>
              <a:cs typeface="Times New Roman" panose="02020603050405020304" pitchFamily="18" charset="0"/>
            </a:endParaRPr>
          </a:p>
          <a:p>
            <a:pPr lvl="1"/>
            <a:r>
              <a:rPr lang="en-US" sz="3200" b="1" dirty="0" smtClean="0">
                <a:latin typeface="Times New Roman" panose="02020603050405020304" pitchFamily="18" charset="0"/>
                <a:cs typeface="Times New Roman" panose="02020603050405020304" pitchFamily="18" charset="0"/>
              </a:rPr>
              <a:t>Advantages over current systems:</a:t>
            </a:r>
          </a:p>
          <a:p>
            <a:pPr lvl="1"/>
            <a:r>
              <a:rPr lang="en-US" sz="2800" dirty="0" smtClean="0">
                <a:latin typeface="Times New Roman" panose="02020603050405020304" pitchFamily="18" charset="0"/>
                <a:cs typeface="Times New Roman" panose="02020603050405020304" pitchFamily="18" charset="0"/>
              </a:rPr>
              <a:t>      Ensures cart data persistence even after page refresh or reopening the application.</a:t>
            </a:r>
          </a:p>
          <a:p>
            <a:pPr lvl="1"/>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Provides a fully responsive design for better usability on </a:t>
            </a:r>
            <a:r>
              <a:rPr lang="en-US" sz="2800" dirty="0" err="1" smtClean="0">
                <a:latin typeface="Times New Roman" panose="02020603050405020304" pitchFamily="18" charset="0"/>
                <a:cs typeface="Times New Roman" panose="02020603050405020304" pitchFamily="18" charset="0"/>
              </a:rPr>
              <a:t>mobile,tablet,and</a:t>
            </a:r>
            <a:r>
              <a:rPr lang="en-US" sz="2800" dirty="0" smtClean="0">
                <a:latin typeface="Times New Roman" panose="02020603050405020304" pitchFamily="18" charset="0"/>
                <a:cs typeface="Times New Roman" panose="02020603050405020304" pitchFamily="18" charset="0"/>
              </a:rPr>
              <a:t> desktop devices.</a:t>
            </a:r>
          </a:p>
          <a:p>
            <a:pPr lvl="1"/>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Reduces cart abandonment by retaining user-selected items.</a:t>
            </a:r>
          </a:p>
          <a:p>
            <a:pPr lvl="1"/>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Simplifies user interaction with real-time cart updates(quantity and total price).</a:t>
            </a:r>
          </a:p>
          <a:p>
            <a:pPr marL="914400" lvl="1" indent="-457200">
              <a:buFont typeface="Arial" panose="020B0604020202020204" pitchFamily="34" charset="0"/>
              <a:buChar char="•"/>
            </a:pPr>
            <a:endParaRPr lang="en-US" sz="2800" dirty="0"/>
          </a:p>
          <a:p>
            <a:pPr marL="457200" indent="-457200">
              <a:buFontTx/>
              <a:buChar char="-"/>
            </a:pP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1" y="1638300"/>
            <a:ext cx="15049500" cy="3108543"/>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stretch>
            <a:fillRect/>
          </a:stretch>
        </p:blipFill>
        <p:spPr>
          <a:xfrm>
            <a:off x="4267201" y="2156995"/>
            <a:ext cx="7153592" cy="656790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3970318"/>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stretch>
            <a:fillRect/>
          </a:stretch>
        </p:blipFill>
        <p:spPr>
          <a:xfrm>
            <a:off x="4648200" y="2475171"/>
            <a:ext cx="11125199" cy="624972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1972508"/>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Frontend</a:t>
            </a:r>
            <a:r>
              <a:rPr lang="en-US" sz="3200" b="1" dirty="0" smtClean="0">
                <a:latin typeface="Times New Roman" panose="02020603050405020304" pitchFamily="18" charset="0"/>
                <a:cs typeface="Times New Roman" panose="02020603050405020304" pitchFamily="18" charset="0"/>
              </a:rPr>
              <a:t>:</a:t>
            </a:r>
          </a:p>
          <a:p>
            <a:pPr marL="457200" indent="-457200">
              <a:buFontTx/>
              <a:buChar char="-"/>
            </a:pPr>
            <a:r>
              <a:rPr lang="en-US" sz="2800" dirty="0">
                <a:latin typeface="Times New Roman" panose="02020603050405020304" pitchFamily="18" charset="0"/>
                <a:cs typeface="Times New Roman" panose="02020603050405020304" pitchFamily="18" charset="0"/>
              </a:rPr>
              <a:t>HTML, CSS, JavaScript</a:t>
            </a:r>
          </a:p>
          <a:p>
            <a:r>
              <a:rPr lang="en-US" sz="3200" b="1" dirty="0">
                <a:latin typeface="Times New Roman" panose="02020603050405020304" pitchFamily="18" charset="0"/>
                <a:cs typeface="Times New Roman" panose="02020603050405020304" pitchFamily="18" charset="0"/>
              </a:rPr>
              <a:t>Backend</a:t>
            </a:r>
            <a:r>
              <a:rPr lang="en-US" sz="3200" b="1" dirty="0" smtClean="0">
                <a:latin typeface="Times New Roman" panose="02020603050405020304" pitchFamily="18" charset="0"/>
                <a:cs typeface="Times New Roman" panose="02020603050405020304" pitchFamily="18" charset="0"/>
              </a:rPr>
              <a:t>:</a:t>
            </a:r>
          </a:p>
          <a:p>
            <a:pPr marL="457200" indent="-457200">
              <a:buFontTx/>
              <a:buChar char="-"/>
            </a:pPr>
            <a:r>
              <a:rPr lang="en-US" sz="2800" dirty="0">
                <a:latin typeface="Times New Roman" panose="02020603050405020304" pitchFamily="18" charset="0"/>
                <a:cs typeface="Times New Roman" panose="02020603050405020304" pitchFamily="18" charset="0"/>
              </a:rPr>
              <a:t>PHP</a:t>
            </a:r>
          </a:p>
          <a:p>
            <a:r>
              <a:rPr lang="en-US" sz="3200" b="1" dirty="0">
                <a:latin typeface="Times New Roman" panose="02020603050405020304" pitchFamily="18" charset="0"/>
                <a:cs typeface="Times New Roman" panose="02020603050405020304" pitchFamily="18" charset="0"/>
              </a:rPr>
              <a:t>Database</a:t>
            </a:r>
            <a:r>
              <a:rPr lang="en-US" sz="2800" dirty="0" smtClean="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Text File (users.txt) (File-based storage instead of MySQL)</a:t>
            </a:r>
          </a:p>
          <a:p>
            <a:r>
              <a:rPr lang="en-US" sz="3200" b="1" dirty="0">
                <a:latin typeface="Times New Roman" panose="02020603050405020304" pitchFamily="18" charset="0"/>
                <a:cs typeface="Times New Roman" panose="02020603050405020304" pitchFamily="18" charset="0"/>
              </a:rPr>
              <a:t>Tools</a:t>
            </a:r>
            <a:r>
              <a:rPr lang="en-US" sz="3200" b="1" dirty="0" smtClean="0">
                <a:latin typeface="Times New Roman" panose="02020603050405020304" pitchFamily="18" charset="0"/>
                <a:cs typeface="Times New Roman" panose="02020603050405020304" pitchFamily="18" charset="0"/>
              </a:rPr>
              <a:t>:</a:t>
            </a:r>
          </a:p>
          <a:p>
            <a:r>
              <a:rPr lang="en-US" sz="2800" dirty="0" smtClean="0">
                <a:latin typeface="Times New Roman" panose="02020603050405020304" pitchFamily="18" charset="0"/>
                <a:cs typeface="Times New Roman" panose="02020603050405020304" pitchFamily="18" charset="0"/>
              </a:rPr>
              <a:t>-XAMPP </a:t>
            </a:r>
            <a:r>
              <a:rPr lang="en-US" sz="2800" dirty="0">
                <a:latin typeface="Times New Roman" panose="02020603050405020304" pitchFamily="18" charset="0"/>
                <a:cs typeface="Times New Roman" panose="02020603050405020304" pitchFamily="18" charset="0"/>
              </a:rPr>
              <a:t>Server, Visual Studio Code (or Notepad), Web Browser (Chrome</a:t>
            </a:r>
          </a:p>
          <a:p>
            <a:r>
              <a:rPr lang="en-US" sz="3200" b="1" dirty="0">
                <a:latin typeface="Times New Roman" panose="02020603050405020304" pitchFamily="18" charset="0"/>
                <a:cs typeface="Times New Roman" panose="02020603050405020304" pitchFamily="18" charset="0"/>
              </a:rPr>
              <a:t>Hardware/Software Requirements</a:t>
            </a:r>
            <a:r>
              <a:rPr lang="en-US" sz="2800" dirty="0" smtClean="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-System with minimum 4GB </a:t>
            </a:r>
            <a:r>
              <a:rPr lang="en-US" sz="2800" dirty="0" smtClean="0">
                <a:latin typeface="Times New Roman" panose="02020603050405020304" pitchFamily="18" charset="0"/>
                <a:cs typeface="Times New Roman" panose="02020603050405020304" pitchFamily="18" charset="0"/>
              </a:rPr>
              <a:t>RAM</a:t>
            </a:r>
          </a:p>
          <a:p>
            <a:r>
              <a:rPr lang="en-US" sz="2800" dirty="0" smtClean="0">
                <a:latin typeface="Times New Roman" panose="02020603050405020304" pitchFamily="18" charset="0"/>
                <a:cs typeface="Times New Roman" panose="02020603050405020304" pitchFamily="18" charset="0"/>
              </a:rPr>
              <a:t>-Windows OS</a:t>
            </a:r>
          </a:p>
          <a:p>
            <a:r>
              <a:rPr lang="en-US" sz="2800" dirty="0" smtClean="0">
                <a:latin typeface="Times New Roman" panose="02020603050405020304" pitchFamily="18" charset="0"/>
                <a:cs typeface="Times New Roman" panose="02020603050405020304" pitchFamily="18" charset="0"/>
              </a:rPr>
              <a:t>-XAMPP installed</a:t>
            </a:r>
          </a:p>
          <a:p>
            <a:r>
              <a:rPr lang="en-US" sz="2800" dirty="0" smtClean="0">
                <a:latin typeface="Times New Roman" panose="02020603050405020304" pitchFamily="18" charset="0"/>
                <a:cs typeface="Times New Roman" panose="02020603050405020304" pitchFamily="18" charset="0"/>
              </a:rPr>
              <a:t>-Web </a:t>
            </a:r>
            <a:r>
              <a:rPr lang="en-US" sz="2800" dirty="0">
                <a:latin typeface="Times New Roman" panose="02020603050405020304" pitchFamily="18" charset="0"/>
                <a:cs typeface="Times New Roman" panose="02020603050405020304" pitchFamily="18" charset="0"/>
              </a:rPr>
              <a:t>browser</a:t>
            </a:r>
            <a:endParaRPr lang="en-US" sz="2800" dirty="0" smtClean="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368923" y="39065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9" name="TextBox 48"/>
          <p:cNvSpPr txBox="1"/>
          <p:nvPr/>
        </p:nvSpPr>
        <p:spPr>
          <a:xfrm>
            <a:off x="2016368" y="1852246"/>
            <a:ext cx="11623431" cy="7940635"/>
          </a:xfrm>
          <a:prstGeom prst="rect">
            <a:avLst/>
          </a:prstGeom>
          <a:noFill/>
        </p:spPr>
        <p:txBody>
          <a:bodyPr wrap="square" rtlCol="0">
            <a:spAutoFit/>
          </a:bodyPr>
          <a:lstStyle/>
          <a:p>
            <a:pPr algn="just"/>
            <a:r>
              <a:rPr lang="en-US" sz="3200" b="1" dirty="0">
                <a:latin typeface="Times New Roman" panose="02020603050405020304" pitchFamily="18" charset="0"/>
                <a:cs typeface="Times New Roman" panose="02020603050405020304" pitchFamily="18" charset="0"/>
              </a:rPr>
              <a:t>Module 1: User Interface </a:t>
            </a:r>
            <a:r>
              <a:rPr lang="en-US" sz="3200" b="1" dirty="0" smtClean="0">
                <a:latin typeface="Times New Roman" panose="02020603050405020304" pitchFamily="18" charset="0"/>
                <a:cs typeface="Times New Roman" panose="02020603050405020304" pitchFamily="18" charset="0"/>
              </a:rPr>
              <a:t>Module:</a:t>
            </a:r>
            <a:endParaRPr lang="en-US" sz="32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Displays product list with images, price, and details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responsive design for mobile, tablet, and desktop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Handles user interactions like browsing and selecting </a:t>
            </a:r>
            <a:r>
              <a:rPr lang="en-US" sz="2800" dirty="0" smtClean="0">
                <a:latin typeface="Times New Roman" panose="02020603050405020304" pitchFamily="18" charset="0"/>
                <a:cs typeface="Times New Roman" panose="02020603050405020304" pitchFamily="18" charset="0"/>
              </a:rPr>
              <a:t>products</a:t>
            </a:r>
          </a:p>
          <a:p>
            <a:pPr algn="just"/>
            <a:r>
              <a:rPr lang="en-US" sz="3200" b="1" dirty="0">
                <a:latin typeface="Times New Roman" panose="02020603050405020304" pitchFamily="18" charset="0"/>
                <a:cs typeface="Times New Roman" panose="02020603050405020304" pitchFamily="18" charset="0"/>
              </a:rPr>
              <a:t>Module 2: Cart Management </a:t>
            </a:r>
            <a:r>
              <a:rPr lang="en-US" sz="3200" b="1" dirty="0" smtClean="0">
                <a:latin typeface="Times New Roman" panose="02020603050405020304" pitchFamily="18" charset="0"/>
                <a:cs typeface="Times New Roman" panose="02020603050405020304" pitchFamily="18" charset="0"/>
              </a:rPr>
              <a:t>Module:</a:t>
            </a:r>
            <a:endParaRPr lang="en-US" sz="32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Handles adding, removing, and updating cart items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Maintains item quantity and total price dynamically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Provides real-time updates to the cart display</a:t>
            </a:r>
          </a:p>
          <a:p>
            <a:pPr algn="just"/>
            <a:r>
              <a:rPr lang="en-US" sz="3200" b="1" dirty="0">
                <a:latin typeface="Times New Roman" panose="02020603050405020304" pitchFamily="18" charset="0"/>
                <a:cs typeface="Times New Roman" panose="02020603050405020304" pitchFamily="18" charset="0"/>
              </a:rPr>
              <a:t>Module 3: Storage Management </a:t>
            </a:r>
            <a:r>
              <a:rPr lang="en-US" sz="3200" b="1" dirty="0" smtClean="0">
                <a:latin typeface="Times New Roman" panose="02020603050405020304" pitchFamily="18" charset="0"/>
                <a:cs typeface="Times New Roman" panose="02020603050405020304" pitchFamily="18" charset="0"/>
              </a:rPr>
              <a:t>Module:</a:t>
            </a:r>
            <a:endParaRPr lang="en-US" sz="32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Stores cart data using local storage/session storage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Retrieves saved cart data when the user revisits or refreshes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Ensures data persistence without backend dependency</a:t>
            </a:r>
          </a:p>
          <a:p>
            <a:pPr algn="just"/>
            <a:r>
              <a:rPr lang="en-US" sz="3200" b="1" dirty="0">
                <a:latin typeface="Times New Roman" panose="02020603050405020304" pitchFamily="18" charset="0"/>
                <a:cs typeface="Times New Roman" panose="02020603050405020304" pitchFamily="18" charset="0"/>
              </a:rPr>
              <a:t>Module 4: Data Processing </a:t>
            </a:r>
            <a:r>
              <a:rPr lang="en-US" sz="3200" b="1" dirty="0" smtClean="0">
                <a:latin typeface="Times New Roman" panose="02020603050405020304" pitchFamily="18" charset="0"/>
                <a:cs typeface="Times New Roman" panose="02020603050405020304" pitchFamily="18" charset="0"/>
              </a:rPr>
              <a:t>Module:</a:t>
            </a:r>
            <a:endParaRPr lang="en-US" sz="32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Processes user inputs and manages application logic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Calculates total price and updates UI accordingly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Ensures smooth and efficient system performance</a:t>
            </a:r>
          </a:p>
          <a:p>
            <a:endParaRPr lang="en-US" sz="2800" dirty="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3970318"/>
          </a:xfrm>
          <a:prstGeom prst="rect">
            <a:avLst/>
          </a:prstGeom>
          <a:noFill/>
        </p:spPr>
        <p:txBody>
          <a:bodyPr wrap="square" rtlCol="0">
            <a:spAutoFit/>
          </a:bodyPr>
          <a:lstStyle/>
          <a:p>
            <a:pPr marL="457200" indent="-457200">
              <a:buFontTx/>
              <a:buChar char="-"/>
            </a:pPr>
            <a:r>
              <a:rPr lang="en-US" sz="2800" dirty="0" smtClean="0"/>
              <a:t>Home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stretch>
            <a:fillRect/>
          </a:stretch>
        </p:blipFill>
        <p:spPr>
          <a:xfrm>
            <a:off x="2492257" y="2508070"/>
            <a:ext cx="6956543" cy="5515745"/>
          </a:xfrm>
          <a:prstGeom prst="rect">
            <a:avLst/>
          </a:prstGeom>
        </p:spPr>
      </p:pic>
      <p:pic>
        <p:nvPicPr>
          <p:cNvPr id="3" name="Picture 2"/>
          <p:cNvPicPr>
            <a:picLocks noChangeAspect="1"/>
          </p:cNvPicPr>
          <p:nvPr/>
        </p:nvPicPr>
        <p:blipFill>
          <a:blip r:embed="rId5"/>
          <a:stretch>
            <a:fillRect/>
          </a:stretch>
        </p:blipFill>
        <p:spPr>
          <a:xfrm>
            <a:off x="10016760" y="2523559"/>
            <a:ext cx="7525800" cy="5500256"/>
          </a:xfrm>
          <a:prstGeom prst="rect">
            <a:avLst/>
          </a:prstGeom>
        </p:spPr>
      </p:pic>
    </p:spTree>
    <p:extLst>
      <p:ext uri="{BB962C8B-B14F-4D97-AF65-F5344CB8AC3E}">
        <p14:creationId xmlns:p14="http://schemas.microsoft.com/office/powerpoint/2010/main" val="19981011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4"/>
          <a:stretch>
            <a:fillRect/>
          </a:stretch>
        </p:blipFill>
        <p:spPr>
          <a:xfrm>
            <a:off x="3366281" y="2218917"/>
            <a:ext cx="11555438" cy="5849166"/>
          </a:xfrm>
          <a:prstGeom prst="rect">
            <a:avLst/>
          </a:prstGeom>
        </p:spPr>
      </p:pic>
    </p:spTree>
    <p:extLst>
      <p:ext uri="{BB962C8B-B14F-4D97-AF65-F5344CB8AC3E}">
        <p14:creationId xmlns:p14="http://schemas.microsoft.com/office/powerpoint/2010/main" val="39811873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5" name="Rectangle 2"/>
          <p:cNvSpPr>
            <a:spLocks noChangeArrowheads="1"/>
          </p:cNvSpPr>
          <p:nvPr/>
        </p:nvSpPr>
        <p:spPr bwMode="auto">
          <a:xfrm rot="10800000" flipV="1">
            <a:off x="2078855" y="2252885"/>
            <a:ext cx="13335000"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ADVANTAGES: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Cart data is saved even after page refresh or reopening the site.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Provides a responsive design for mobile, tablet, and desktop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Improves user experience by preventing loss of selected items.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Reduces cart abandonment and increases user engagement</a:t>
            </a:r>
            <a:r>
              <a:rPr kumimoji="0" lang="en-US" altLang="en-US" sz="3200" b="0" i="0" u="none" strike="noStrike" cap="none" normalizeH="0" baseline="0" dirty="0" smtClean="0">
                <a:ln>
                  <a:noFill/>
                </a:ln>
                <a:solidFill>
                  <a:schemeClr val="tx1"/>
                </a:solidFill>
                <a:effectLst/>
                <a:latin typeface="Arial" panose="020B0604020202020204" pitchFamily="34" charset="0"/>
              </a:rPr>
              <a:t>. </a:t>
            </a:r>
          </a:p>
        </p:txBody>
      </p:sp>
      <p:sp>
        <p:nvSpPr>
          <p:cNvPr id="37" name="Rectangle 3"/>
          <p:cNvSpPr>
            <a:spLocks noChangeArrowheads="1"/>
          </p:cNvSpPr>
          <p:nvPr/>
        </p:nvSpPr>
        <p:spPr bwMode="auto">
          <a:xfrm rot="10800000" flipV="1">
            <a:off x="2107947" y="5841679"/>
            <a:ext cx="1846605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LIMITATIONS: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Depends on browser storage (data may be cleared by user).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Limited storage capacity in local storage.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 backend support in basic version (no user account sync).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is not shared across different devices. </a:t>
            </a:r>
          </a:p>
        </p:txBody>
      </p:sp>
    </p:spTree>
    <p:extLst>
      <p:ext uri="{BB962C8B-B14F-4D97-AF65-F5344CB8AC3E}">
        <p14:creationId xmlns:p14="http://schemas.microsoft.com/office/powerpoint/2010/main" val="18389767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1038</Words>
  <Application>Microsoft Office PowerPoint</Application>
  <PresentationFormat>Custom</PresentationFormat>
  <Paragraphs>267</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Bookman Old Style</vt:lpstr>
      <vt:lpstr>Gotham</vt:lpstr>
      <vt:lpstr>Gotham Bold Italics</vt:lpstr>
      <vt:lpstr>Arial</vt:lpstr>
      <vt:lpstr>Times New Roman</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Ranga</dc:creator>
  <cp:lastModifiedBy>Ranga</cp:lastModifiedBy>
  <cp:revision>21</cp:revision>
  <dcterms:created xsi:type="dcterms:W3CDTF">2006-08-16T00:00:00Z</dcterms:created>
  <dcterms:modified xsi:type="dcterms:W3CDTF">2026-05-05T17:03:30Z</dcterms:modified>
  <dc:identifier>DAHCaYqJ9OU</dc:identifier>
</cp:coreProperties>
</file>