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9" r:id="rId12"/>
    <p:sldId id="267" r:id="rId13"/>
    <p:sldId id="268" r:id="rId14"/>
    <p:sldId id="270" r:id="rId15"/>
    <p:sldId id="265" r:id="rId16"/>
  </p:sldIdLst>
  <p:sldSz cx="18288000" cy="10287000"/>
  <p:notesSz cx="6858000" cy="9144000"/>
  <p:embeddedFontLst>
    <p:embeddedFont>
      <p:font typeface="Bookman Old Style" panose="02050604050505020204" pitchFamily="18" charset="0"/>
      <p:regular r:id="rId17"/>
      <p:bold r:id="rId18"/>
      <p:italic r:id="rId19"/>
      <p:boldItalic r:id="rId20"/>
    </p:embeddedFont>
    <p:embeddedFont>
      <p:font typeface="Cambria" panose="02040503050406030204" pitchFamily="18" charset="0"/>
      <p:regular r:id="rId21"/>
      <p:bold r:id="rId22"/>
      <p:italic r:id="rId23"/>
      <p:boldItalic r:id="rId24"/>
    </p:embeddedFont>
    <p:embeddedFont>
      <p:font typeface="Gotham" panose="020B0604020202020204" charset="0"/>
      <p:regular r:id="rId25"/>
    </p:embeddedFont>
    <p:embeddedFont>
      <p:font typeface="Gotham Bold Italics"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0" d="100"/>
          <a:sy n="40" d="100"/>
        </p:scale>
        <p:origin x="900" y="6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2</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22-04-2026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251919" y="6019895"/>
            <a:ext cx="15784162" cy="646331"/>
          </a:xfrm>
          <a:prstGeom prst="rect">
            <a:avLst/>
          </a:prstGeom>
          <a:noFill/>
        </p:spPr>
        <p:txBody>
          <a:bodyPr wrap="square" rtlCol="0">
            <a:spAutoFit/>
          </a:bodyPr>
          <a:lstStyle/>
          <a:p>
            <a:pPr algn="ctr"/>
            <a:r>
              <a:rPr lang="en-US" sz="3600" b="1" dirty="0">
                <a:solidFill>
                  <a:srgbClr val="0033CC"/>
                </a:solidFill>
                <a:latin typeface="Times New Roman" panose="02020603050405020304" pitchFamily="18" charset="0"/>
                <a:cs typeface="Times New Roman" panose="02020603050405020304" pitchFamily="18" charset="0"/>
              </a:rPr>
              <a:t>Smart Campus Event Management  System</a:t>
            </a:r>
            <a:endParaRPr lang="en-IN" sz="3600" b="1" dirty="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err="1">
                <a:latin typeface="Cambria" panose="02040503050406030204" pitchFamily="18" charset="0"/>
                <a:ea typeface="Cambria" panose="02040503050406030204" pitchFamily="18" charset="0"/>
              </a:rPr>
              <a:t>K.Spandana</a:t>
            </a:r>
            <a:r>
              <a:rPr lang="en-US" sz="3000" dirty="0">
                <a:latin typeface="Cambria" panose="02040503050406030204" pitchFamily="18" charset="0"/>
                <a:ea typeface="Cambria" panose="02040503050406030204" pitchFamily="18" charset="0"/>
              </a:rPr>
              <a:t> – VTU26084 – 23UECS0765</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2084160"/>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a:latin typeface="Cambria" panose="02040503050406030204" pitchFamily="18" charset="0"/>
                <a:ea typeface="Cambria" panose="02040503050406030204" pitchFamily="18" charset="0"/>
              </a:rPr>
              <a:t>Dr. S.  Hemamalini, M. E, Ph.D.,</a:t>
            </a:r>
          </a:p>
          <a:p>
            <a:pPr>
              <a:lnSpc>
                <a:spcPct val="150000"/>
              </a:lnSpc>
            </a:pPr>
            <a:r>
              <a:rPr lang="en-US" sz="3000" dirty="0">
                <a:latin typeface="Cambria" panose="02040503050406030204" pitchFamily="18" charset="0"/>
                <a:ea typeface="Cambria" panose="02040503050406030204" pitchFamily="18" charset="0"/>
              </a:rPr>
              <a:t>Assistant Professor (senior grade)</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707886"/>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SDG No - 4 Quality Education</a:t>
            </a:r>
          </a:p>
          <a:p>
            <a:endParaRPr lang="en-IN"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2209800" y="1638300"/>
            <a:ext cx="15082325" cy="12157174"/>
          </a:xfrm>
          <a:prstGeom prst="rect">
            <a:avLst/>
          </a:prstGeom>
          <a:noFill/>
        </p:spPr>
        <p:txBody>
          <a:bodyPr wrap="square" rtlCol="0">
            <a:spAutoFit/>
          </a:bodyPr>
          <a:lstStyle/>
          <a:p>
            <a:pPr algn="just"/>
            <a:r>
              <a:rPr lang="en-US" sz="2800" b="1" dirty="0">
                <a:latin typeface="Times New Roman" panose="02020603050405020304" pitchFamily="18" charset="0"/>
                <a:cs typeface="Times New Roman" panose="02020603050405020304" pitchFamily="18" charset="0"/>
              </a:rPr>
              <a:t>Background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 Managing campus events manually using notices or spreadsheets is inefficient and leads to poor communication and data management. This creates difficulties in tracking event details, registrations, and updates for both students and administrators.</a:t>
            </a:r>
          </a:p>
          <a:p>
            <a:pPr marL="457200" indent="-457200" algn="just">
              <a:buFont typeface="Arial" panose="020B0604020202020204" pitchFamily="34" charset="0"/>
              <a:buChar char="•"/>
            </a:pPr>
            <a:endParaRPr lang="en-US" sz="2800" b="1" dirty="0">
              <a:latin typeface="Times New Roman" panose="02020603050405020304" pitchFamily="18" charset="0"/>
              <a:cs typeface="Times New Roman" panose="02020603050405020304" pitchFamily="18" charset="0"/>
            </a:endParaRPr>
          </a:p>
          <a:p>
            <a:pPr algn="just"/>
            <a:r>
              <a:rPr lang="en-US" sz="2800" b="1" dirty="0">
                <a:latin typeface="Times New Roman" panose="02020603050405020304" pitchFamily="18" charset="0"/>
                <a:cs typeface="Times New Roman" panose="02020603050405020304" pitchFamily="18" charset="0"/>
              </a:rPr>
              <a:t>Need for the project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There is a need for a centralized system to manage campus events efficiently and reduce manual work. This project helps streamline event creation, registration, and tracking, improving overall organization and user experience.</a:t>
            </a:r>
          </a:p>
          <a:p>
            <a:pPr marL="457200" indent="-457200" algn="just">
              <a:buFont typeface="Arial" panose="020B0604020202020204" pitchFamily="34" charset="0"/>
              <a:buChar char="•"/>
            </a:pPr>
            <a:endParaRPr lang="en-US" sz="2800" b="1" dirty="0">
              <a:latin typeface="Times New Roman" panose="02020603050405020304" pitchFamily="18" charset="0"/>
              <a:cs typeface="Times New Roman" panose="02020603050405020304" pitchFamily="18" charset="0"/>
            </a:endParaRPr>
          </a:p>
          <a:p>
            <a:pPr algn="just"/>
            <a:r>
              <a:rPr lang="en-US" sz="2800" b="1" dirty="0">
                <a:latin typeface="Times New Roman" panose="02020603050405020304" pitchFamily="18" charset="0"/>
                <a:cs typeface="Times New Roman" panose="02020603050405020304" pitchFamily="18" charset="0"/>
              </a:rPr>
              <a:t>Real-World Relevance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This system can be used in colleges and universities to efficiently manage multiple events and student registrations. It reflects real-world applications where digital platforms simplify event coordination and improve communication between users and organizers.</a:t>
            </a:r>
          </a:p>
          <a:p>
            <a:pPr marL="457200" indent="-457200" algn="just">
              <a:buFont typeface="Arial" panose="020B0604020202020204" pitchFamily="34" charset="0"/>
              <a:buChar char="•"/>
            </a:pPr>
            <a:endParaRPr lang="en-US" sz="2800" b="1" dirty="0">
              <a:latin typeface="Times New Roman" panose="02020603050405020304" pitchFamily="18" charset="0"/>
              <a:cs typeface="Times New Roman" panose="02020603050405020304" pitchFamily="18" charset="0"/>
            </a:endParaRPr>
          </a:p>
          <a:p>
            <a:pPr algn="just"/>
            <a:r>
              <a:rPr lang="en-US" sz="2800" b="1" dirty="0">
                <a:latin typeface="Times New Roman" panose="02020603050405020304" pitchFamily="18" charset="0"/>
                <a:cs typeface="Times New Roman" panose="02020603050405020304" pitchFamily="18" charset="0"/>
              </a:rPr>
              <a:t>System Overview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system is a web-based application where students can view and register for campus events, while administrators can create, update, and manage event details. It uses Spring Boot, JPA, and Thymeleaf to provide a structured and user-friendly event management platform.</a:t>
            </a:r>
          </a:p>
          <a:p>
            <a:pPr marL="457200" indent="-457200" algn="just">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209800" y="1638300"/>
            <a:ext cx="15082325" cy="10433625"/>
          </a:xfrm>
          <a:prstGeom prst="rect">
            <a:avLst/>
          </a:prstGeom>
          <a:noFill/>
        </p:spPr>
        <p:txBody>
          <a:bodyPr wrap="square" rtlCol="0">
            <a:spAutoFit/>
          </a:bodyPr>
          <a:lstStyle/>
          <a:p>
            <a:pPr algn="just"/>
            <a:r>
              <a:rPr lang="en-US" sz="2800" dirty="0">
                <a:latin typeface="Times New Roman" panose="02020603050405020304" pitchFamily="18" charset="0"/>
                <a:cs typeface="Times New Roman" panose="02020603050405020304" pitchFamily="18" charset="0"/>
              </a:rPr>
              <a:t>                              In many educational institutions, campus event management is still handled through manual or semi-digital methods, leading to inefficiencies and lack of coordination. Event information is often fragmented, making it difficult for students to stay informed and participate effectively.</a:t>
            </a:r>
          </a:p>
          <a:p>
            <a:pPr algn="just"/>
            <a:endParaRPr lang="en-US"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 Administrators face challenges in managing registrations, updating event details, and maintaining accurate records. The absence of a centralized system results in poor communication and limited scalability. </a:t>
            </a:r>
          </a:p>
          <a:p>
            <a:pPr algn="just"/>
            <a:endParaRPr lang="en-US"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 These limitations affect the overall efficiency and organization of campus activities. Therefore, there is a strong need for a structured, reliable, and automated solution to streamline event management and enhance user experience.</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2" name="TextBox 51">
            <a:extLst>
              <a:ext uri="{FF2B5EF4-FFF2-40B4-BE49-F238E27FC236}">
                <a16:creationId xmlns:a16="http://schemas.microsoft.com/office/drawing/2014/main" id="{056A0A3A-1541-5EC0-5370-02DA282ABDDE}"/>
              </a:ext>
            </a:extLst>
          </p:cNvPr>
          <p:cNvSpPr txBox="1"/>
          <p:nvPr/>
        </p:nvSpPr>
        <p:spPr>
          <a:xfrm>
            <a:off x="2209800" y="1864459"/>
            <a:ext cx="15082325" cy="6555641"/>
          </a:xfrm>
          <a:prstGeom prst="rect">
            <a:avLst/>
          </a:prstGeom>
          <a:noFill/>
        </p:spPr>
        <p:txBody>
          <a:bodyPr wrap="square" rtlCol="0">
            <a:spAutoFit/>
          </a:bodyPr>
          <a:lstStyle/>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 design and develop a web-based campus event management system. </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 implement a centralized platform for event creation, registration, and management.</a:t>
            </a:r>
          </a:p>
          <a:p>
            <a:pPr algn="just"/>
            <a:r>
              <a:rPr lang="en-US" sz="2800" dirty="0">
                <a:latin typeface="Times New Roman" panose="02020603050405020304" pitchFamily="18" charset="0"/>
                <a:cs typeface="Times New Roman" panose="02020603050405020304" pitchFamily="18" charset="0"/>
              </a:rPr>
              <a:t>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 improve communication and accessibility of event information for students.</a:t>
            </a:r>
          </a:p>
          <a:p>
            <a:pPr algn="just"/>
            <a:r>
              <a:rPr lang="en-US" sz="2800" dirty="0">
                <a:latin typeface="Times New Roman" panose="02020603050405020304" pitchFamily="18" charset="0"/>
                <a:cs typeface="Times New Roman" panose="02020603050405020304" pitchFamily="18" charset="0"/>
              </a:rPr>
              <a:t>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 enhance data management and reduce manual effort in handling campus events. </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2069724" y="1861861"/>
            <a:ext cx="15082325" cy="5693866"/>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6" name="TextBox 5">
            <a:extLst>
              <a:ext uri="{FF2B5EF4-FFF2-40B4-BE49-F238E27FC236}">
                <a16:creationId xmlns:a16="http://schemas.microsoft.com/office/drawing/2014/main" id="{599EC198-7920-2291-6A21-B20137D8EAFD}"/>
              </a:ext>
            </a:extLst>
          </p:cNvPr>
          <p:cNvSpPr txBox="1"/>
          <p:nvPr/>
        </p:nvSpPr>
        <p:spPr>
          <a:xfrm>
            <a:off x="2573955" y="1741463"/>
            <a:ext cx="14578093" cy="6986528"/>
          </a:xfrm>
          <a:prstGeom prst="rect">
            <a:avLst/>
          </a:prstGeom>
          <a:noFill/>
        </p:spPr>
        <p:txBody>
          <a:bodyPr wrap="square" rtlCol="0">
            <a:spAutoFit/>
          </a:bodyPr>
          <a:lstStyle/>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proposed system is a web-based application designed to manage campus events efficiently. </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It provides a centralized platform for students and administrators to interact. </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Students can view upcoming events, register online, and track their participation. </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Administrators can create, update, and delete event details through a secure interface. </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system automates event management, reducing manual effort and errors. </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It ensures real-time updates and easy access to event information. </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Data is stored and managed securely using a database system. </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Overall, it improves efficiency, organization, and user experience compared to traditional methods.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2164060" y="1686924"/>
            <a:ext cx="15082325" cy="14157722"/>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Input</a:t>
            </a:r>
          </a:p>
          <a:p>
            <a:pPr marL="457200" indent="-4572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Users (students/admins) interact through web pages.</a:t>
            </a:r>
          </a:p>
          <a:p>
            <a:pPr marL="457200" indent="-4572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Input includes event details, registration forms, login data </a:t>
            </a:r>
          </a:p>
          <a:p>
            <a:r>
              <a:rPr lang="en-US" sz="2400" b="1" dirty="0">
                <a:latin typeface="Times New Roman" panose="02020603050405020304" pitchFamily="18" charset="0"/>
                <a:cs typeface="Times New Roman" panose="02020603050405020304" pitchFamily="18" charset="0"/>
              </a:rPr>
              <a:t>Processing</a:t>
            </a:r>
          </a:p>
          <a:p>
            <a:pPr marL="457200" indent="-4572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Controller receives user requests. </a:t>
            </a:r>
          </a:p>
          <a:p>
            <a:pPr marL="457200" indent="-4572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Service layer processes business logic. </a:t>
            </a:r>
          </a:p>
          <a:p>
            <a:pPr marL="457200" indent="-4572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Example: validating data, handling registrations.</a:t>
            </a:r>
          </a:p>
          <a:p>
            <a:r>
              <a:rPr lang="en-US" sz="2400" b="1" dirty="0">
                <a:latin typeface="Times New Roman" panose="02020603050405020304" pitchFamily="18" charset="0"/>
                <a:cs typeface="Times New Roman" panose="02020603050405020304" pitchFamily="18" charset="0"/>
              </a:rPr>
              <a:t>Database</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Data is stored in MySQL database.</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Tables like: </a:t>
            </a:r>
          </a:p>
          <a:p>
            <a:pPr marL="800100" lvl="1"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Event </a:t>
            </a:r>
          </a:p>
          <a:p>
            <a:pPr marL="800100" lvl="1"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Registration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Managed using Spring Data JPA.</a:t>
            </a:r>
          </a:p>
          <a:p>
            <a:r>
              <a:rPr lang="en-US" sz="2400" b="1" dirty="0">
                <a:latin typeface="Times New Roman" panose="02020603050405020304" pitchFamily="18" charset="0"/>
                <a:cs typeface="Times New Roman" panose="02020603050405020304" pitchFamily="18" charset="0"/>
              </a:rPr>
              <a:t>Output</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Processed data is displayed using Thymeleaf pages.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Users can see: </a:t>
            </a:r>
          </a:p>
          <a:p>
            <a:pPr marL="800100" lvl="1"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Event list. </a:t>
            </a:r>
          </a:p>
          <a:p>
            <a:pPr marL="800100" lvl="1"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Registration confirmation. </a:t>
            </a:r>
          </a:p>
          <a:p>
            <a:pPr marL="800100" lvl="1"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Updated event details.</a:t>
            </a:r>
          </a:p>
          <a:p>
            <a:r>
              <a:rPr lang="en-US" sz="2000" dirty="0">
                <a:latin typeface="Times New Roman" panose="02020603050405020304" pitchFamily="18" charset="0"/>
                <a:cs typeface="Times New Roman" panose="02020603050405020304" pitchFamily="18" charset="0"/>
              </a:rPr>
              <a:t> </a:t>
            </a:r>
          </a:p>
          <a:p>
            <a:endParaRPr lang="en-US"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 </a:t>
            </a:r>
          </a:p>
          <a:p>
            <a:endParaRPr lang="en-US" sz="28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26F04B43-6248-8EAF-3D9A-B1C9B4DCCE2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39201" y="3146802"/>
            <a:ext cx="8869424" cy="588289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2209800" y="1638300"/>
            <a:ext cx="15082325" cy="4832092"/>
          </a:xfrm>
          <a:prstGeom prst="rect">
            <a:avLst/>
          </a:prstGeom>
          <a:noFill/>
        </p:spPr>
        <p:txBody>
          <a:bodyPr wrap="square" rtlCol="0">
            <a:spAutoFit/>
          </a:bodyPr>
          <a:lstStyle/>
          <a:p>
            <a:endParaRPr lang="en-US" sz="28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B4339DB1-8A26-2612-A89C-20D33CFA53A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71799" y="1741463"/>
            <a:ext cx="13341621" cy="736443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490751" y="1830433"/>
            <a:ext cx="15082325" cy="13449836"/>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Frontend:</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HTML5, CSS3, Thymeleaf, JavaScript</a:t>
            </a:r>
          </a:p>
          <a:p>
            <a:endParaRPr lang="en-US"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Backend:</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Java, Spring Boot, Spring MVC, Spring Data JPA</a:t>
            </a:r>
          </a:p>
          <a:p>
            <a:endParaRPr lang="en-US"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Database:</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MySQL</a:t>
            </a:r>
          </a:p>
          <a:p>
            <a:r>
              <a:rPr lang="en-US" sz="2800" b="1" dirty="0">
                <a:latin typeface="Times New Roman" panose="02020603050405020304" pitchFamily="18" charset="0"/>
                <a:cs typeface="Times New Roman" panose="02020603050405020304" pitchFamily="18" charset="0"/>
              </a:rPr>
              <a:t>Tools:</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VS Code / Eclipse, Maven, Postman, Git</a:t>
            </a:r>
          </a:p>
          <a:p>
            <a:endParaRPr lang="en-US"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Hardware/Software Requirements:</a:t>
            </a:r>
            <a:endParaRPr 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4GB RAM (minimum) </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Dual-core processor </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Java JDK 17+ </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MySQL Server </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Web Browser (Chrome/Edge)</a:t>
            </a:r>
          </a:p>
          <a:p>
            <a:pPr marL="457200" indent="-457200">
              <a:buFont typeface="Arial" panose="020B0604020202020204" pitchFamily="34" charset="0"/>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209800" y="1638300"/>
            <a:ext cx="15082325" cy="8279190"/>
          </a:xfrm>
          <a:prstGeom prst="rect">
            <a:avLst/>
          </a:prstGeom>
          <a:noFill/>
        </p:spPr>
        <p:txBody>
          <a:bodyPr wrap="square" rtlCol="0">
            <a:spAutoFit/>
          </a:bodyPr>
          <a:lstStyle/>
          <a:p>
            <a:endParaRPr lang="en-IN" sz="2800" b="1" dirty="0"/>
          </a:p>
          <a:p>
            <a:r>
              <a:rPr lang="en-US" sz="2800" b="1" dirty="0">
                <a:latin typeface="Times New Roman" panose="02020603050405020304" pitchFamily="18" charset="0"/>
                <a:cs typeface="Times New Roman" panose="02020603050405020304" pitchFamily="18" charset="0"/>
              </a:rPr>
              <a:t>Module 1: User Management</a:t>
            </a:r>
          </a:p>
          <a:p>
            <a:r>
              <a:rPr lang="en-US" sz="2800" dirty="0">
                <a:latin typeface="Times New Roman" panose="02020603050405020304" pitchFamily="18" charset="0"/>
                <a:cs typeface="Times New Roman" panose="02020603050405020304" pitchFamily="18" charset="0"/>
              </a:rPr>
              <a:t>Handles student and admin login with authentication and role-based access control.</a:t>
            </a:r>
          </a:p>
          <a:p>
            <a:endParaRPr lang="en-IN"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Module 2: Event Management</a:t>
            </a:r>
          </a:p>
          <a:p>
            <a:r>
              <a:rPr lang="en-US" sz="2800" dirty="0">
                <a:latin typeface="Times New Roman" panose="02020603050405020304" pitchFamily="18" charset="0"/>
                <a:cs typeface="Times New Roman" panose="02020603050405020304" pitchFamily="18" charset="0"/>
              </a:rPr>
              <a:t>Allows admin to create, update, delete, and manage campus events efficiently.</a:t>
            </a:r>
          </a:p>
          <a:p>
            <a:endParaRPr lang="en-IN"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Module 3: Registration Management</a:t>
            </a:r>
          </a:p>
          <a:p>
            <a:r>
              <a:rPr lang="en-US" sz="2800" dirty="0">
                <a:latin typeface="Times New Roman" panose="02020603050405020304" pitchFamily="18" charset="0"/>
                <a:cs typeface="Times New Roman" panose="02020603050405020304" pitchFamily="18" charset="0"/>
              </a:rPr>
              <a:t>Enables students to register for events and view their registration details.</a:t>
            </a:r>
          </a:p>
          <a:p>
            <a:endParaRPr lang="en-IN"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Module 4: Data Management &amp; Reporting</a:t>
            </a:r>
          </a:p>
          <a:p>
            <a:r>
              <a:rPr lang="en-US" sz="2800" dirty="0">
                <a:latin typeface="Times New Roman" panose="02020603050405020304" pitchFamily="18" charset="0"/>
                <a:cs typeface="Times New Roman" panose="02020603050405020304" pitchFamily="18" charset="0"/>
              </a:rPr>
              <a:t>Manages event and registration data, and provides basic statistics and reports.</a:t>
            </a:r>
          </a:p>
          <a:p>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2209800" y="1638300"/>
            <a:ext cx="15082325" cy="5693866"/>
          </a:xfrm>
          <a:prstGeom prst="rect">
            <a:avLst/>
          </a:prstGeom>
          <a:noFill/>
        </p:spPr>
        <p:txBody>
          <a:bodyPr wrap="square" rtlCol="0">
            <a:spAutoFit/>
          </a:bodyPr>
          <a:lstStyle/>
          <a:p>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IN" sz="2800" dirty="0"/>
          </a:p>
        </p:txBody>
      </p:sp>
      <p:pic>
        <p:nvPicPr>
          <p:cNvPr id="3" name="Picture 2">
            <a:extLst>
              <a:ext uri="{FF2B5EF4-FFF2-40B4-BE49-F238E27FC236}">
                <a16:creationId xmlns:a16="http://schemas.microsoft.com/office/drawing/2014/main" id="{78A30DD3-EC5A-E614-901E-818792381859}"/>
              </a:ext>
            </a:extLst>
          </p:cNvPr>
          <p:cNvPicPr>
            <a:picLocks noChangeAspect="1"/>
          </p:cNvPicPr>
          <p:nvPr/>
        </p:nvPicPr>
        <p:blipFill>
          <a:blip r:embed="rId4"/>
          <a:stretch>
            <a:fillRect/>
          </a:stretch>
        </p:blipFill>
        <p:spPr>
          <a:xfrm>
            <a:off x="2057400" y="2171700"/>
            <a:ext cx="14020800" cy="6477000"/>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746F2C30-13B1-3754-C147-D58A899BC459}"/>
              </a:ext>
            </a:extLst>
          </p:cNvPr>
          <p:cNvSpPr txBox="1"/>
          <p:nvPr/>
        </p:nvSpPr>
        <p:spPr>
          <a:xfrm>
            <a:off x="2291275" y="1638300"/>
            <a:ext cx="15082325" cy="5693866"/>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0026DBD4-1EB3-E75F-2FDC-62C0E3A0695D}"/>
              </a:ext>
            </a:extLst>
          </p:cNvPr>
          <p:cNvPicPr>
            <a:picLocks noChangeAspect="1"/>
          </p:cNvPicPr>
          <p:nvPr/>
        </p:nvPicPr>
        <p:blipFill>
          <a:blip r:embed="rId4"/>
          <a:stretch>
            <a:fillRect/>
          </a:stretch>
        </p:blipFill>
        <p:spPr>
          <a:xfrm>
            <a:off x="2313696" y="2171700"/>
            <a:ext cx="13826247" cy="7086600"/>
          </a:xfrm>
          <a:prstGeom prst="rect">
            <a:avLst/>
          </a:prstGeom>
        </p:spPr>
      </p:pic>
    </p:spTree>
    <p:extLst>
      <p:ext uri="{BB962C8B-B14F-4D97-AF65-F5344CB8AC3E}">
        <p14:creationId xmlns:p14="http://schemas.microsoft.com/office/powerpoint/2010/main" val="3981187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6C0EA81E-D408-1A06-6895-1BF3CA09E497}"/>
              </a:ext>
            </a:extLst>
          </p:cNvPr>
          <p:cNvSpPr txBox="1"/>
          <p:nvPr/>
        </p:nvSpPr>
        <p:spPr>
          <a:xfrm>
            <a:off x="2209800" y="1638300"/>
            <a:ext cx="15082325"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1FD7C82D-D1C7-A217-AC21-C671B12E7506}"/>
              </a:ext>
            </a:extLst>
          </p:cNvPr>
          <p:cNvPicPr>
            <a:picLocks noChangeAspect="1"/>
          </p:cNvPicPr>
          <p:nvPr/>
        </p:nvPicPr>
        <p:blipFill>
          <a:blip r:embed="rId4"/>
          <a:stretch>
            <a:fillRect/>
          </a:stretch>
        </p:blipFill>
        <p:spPr>
          <a:xfrm>
            <a:off x="2057400" y="1818102"/>
            <a:ext cx="14823478" cy="6830598"/>
          </a:xfrm>
          <a:prstGeom prst="rect">
            <a:avLst/>
          </a:prstGeom>
        </p:spPr>
      </p:pic>
    </p:spTree>
    <p:extLst>
      <p:ext uri="{BB962C8B-B14F-4D97-AF65-F5344CB8AC3E}">
        <p14:creationId xmlns:p14="http://schemas.microsoft.com/office/powerpoint/2010/main" val="47544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35" name="Group 35">
            <a:extLst>
              <a:ext uri="{FF2B5EF4-FFF2-40B4-BE49-F238E27FC236}">
                <a16:creationId xmlns:a16="http://schemas.microsoft.com/office/drawing/2014/main"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37" name="TextBox 37">
              <a:extLst>
                <a:ext uri="{FF2B5EF4-FFF2-40B4-BE49-F238E27FC236}">
                  <a16:creationId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41A1FDE-E3AB-682A-64B7-DA145F23EB91}"/>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E9929788-5919-9E4E-5A8A-3FA3DD312242}"/>
              </a:ext>
            </a:extLst>
          </p:cNvPr>
          <p:cNvPicPr>
            <a:picLocks noChangeAspect="1"/>
          </p:cNvPicPr>
          <p:nvPr/>
        </p:nvPicPr>
        <p:blipFill>
          <a:blip r:embed="rId4"/>
          <a:stretch>
            <a:fillRect/>
          </a:stretch>
        </p:blipFill>
        <p:spPr>
          <a:xfrm>
            <a:off x="1870048" y="1638300"/>
            <a:ext cx="15300622" cy="7391400"/>
          </a:xfrm>
          <a:prstGeom prst="rect">
            <a:avLst/>
          </a:prstGeom>
        </p:spPr>
      </p:pic>
    </p:spTree>
    <p:extLst>
      <p:ext uri="{BB962C8B-B14F-4D97-AF65-F5344CB8AC3E}">
        <p14:creationId xmlns:p14="http://schemas.microsoft.com/office/powerpoint/2010/main" val="84889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US"/>
            </a:p>
          </p:txBody>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05F4B910-3C19-1342-AB83-20DCCA6744B8}"/>
              </a:ext>
            </a:extLst>
          </p:cNvPr>
          <p:cNvSpPr txBox="1"/>
          <p:nvPr/>
        </p:nvSpPr>
        <p:spPr>
          <a:xfrm>
            <a:off x="2516626" y="2475171"/>
            <a:ext cx="13877208" cy="683264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Advantages :</a:t>
            </a:r>
          </a:p>
          <a:p>
            <a:endParaRPr lang="en-US" sz="24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Provides a centralized platform for managing all campus events efficiently.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Reduces manual work and minimizes errors in event handling.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Enables easy event registration and access for students.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Improves communication between administrators and students.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Ensures better data management and real-time update.</a:t>
            </a: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Limitations :</a:t>
            </a:r>
          </a:p>
          <a:p>
            <a:endParaRPr lang="en-US" sz="28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Requires internet connection for access and functionality.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Basic security implementation (can be improved for real-world deployment).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Limited scalability for very large institutions or heavy traffic.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Depends on proper database configuration and maintenance.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UI/UX may be simple and can be enhanced further. </a:t>
            </a: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8389767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US"/>
            </a:p>
          </p:txBody>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1126</TotalTime>
  <Words>1009</Words>
  <Application>Microsoft Office PowerPoint</Application>
  <PresentationFormat>Custom</PresentationFormat>
  <Paragraphs>360</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Gotham</vt:lpstr>
      <vt:lpstr>Cambria</vt:lpstr>
      <vt:lpstr>Bookman Old Style</vt:lpstr>
      <vt:lpstr>Times New Roman</vt:lpstr>
      <vt:lpstr>Gotham Bold Italics</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Gali Kalpana</dc:creator>
  <cp:lastModifiedBy>Gali Kalpana</cp:lastModifiedBy>
  <cp:revision>14</cp:revision>
  <dcterms:created xsi:type="dcterms:W3CDTF">2006-08-16T00:00:00Z</dcterms:created>
  <dcterms:modified xsi:type="dcterms:W3CDTF">2026-04-22T17:34:10Z</dcterms:modified>
  <dc:identifier>DAHCaYqJ9OU</dc:identifier>
</cp:coreProperties>
</file>